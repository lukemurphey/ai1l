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5" r:id="rId2"/>
    <p:sldId id="480" r:id="rId3"/>
    <p:sldId id="478" r:id="rId4"/>
    <p:sldId id="479" r:id="rId5"/>
    <p:sldId id="438" r:id="rId6"/>
    <p:sldId id="456" r:id="rId7"/>
    <p:sldId id="454" r:id="rId8"/>
    <p:sldId id="461" r:id="rId9"/>
    <p:sldId id="455" r:id="rId10"/>
    <p:sldId id="458" r:id="rId11"/>
    <p:sldId id="482" r:id="rId12"/>
    <p:sldId id="471" r:id="rId13"/>
    <p:sldId id="439" r:id="rId14"/>
    <p:sldId id="472" r:id="rId15"/>
    <p:sldId id="473" r:id="rId16"/>
    <p:sldId id="477" r:id="rId17"/>
    <p:sldId id="475" r:id="rId18"/>
    <p:sldId id="476" r:id="rId19"/>
    <p:sldId id="474" r:id="rId20"/>
    <p:sldId id="459" r:id="rId21"/>
    <p:sldId id="466" r:id="rId22"/>
    <p:sldId id="481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80100"/>
    <a:srgbClr val="00B902"/>
    <a:srgbClr val="C10102"/>
    <a:srgbClr val="01B902"/>
    <a:srgbClr val="03E50B"/>
    <a:srgbClr val="005CB6"/>
    <a:srgbClr val="01CC04"/>
    <a:srgbClr val="01D305"/>
    <a:srgbClr val="01E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70" autoAdjust="0"/>
    <p:restoredTop sz="94609"/>
  </p:normalViewPr>
  <p:slideViewPr>
    <p:cSldViewPr>
      <p:cViewPr varScale="1">
        <p:scale>
          <a:sx n="138" d="100"/>
          <a:sy n="138" d="100"/>
        </p:scale>
        <p:origin x="5442" y="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7EB338-8BB0-B64B-9F79-C87EA24D723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E1A05-B3B6-6F43-8051-B5A825C5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70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C3B37-55FA-284F-9E83-751B4EA6E9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5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C3B37-55FA-284F-9E83-751B4EA6E9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81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E1A05-B3B6-6F43-8051-B5A825C5C2A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615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C3B37-55FA-284F-9E83-751B4EA6E9B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5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7699-C466-4996-ADED-71C8160E04A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5EE-450D-4102-8FB2-AECCE2D0F3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7699-C466-4996-ADED-71C8160E04A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5EE-450D-4102-8FB2-AECCE2D0F3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7699-C466-4996-ADED-71C8160E04A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5EE-450D-4102-8FB2-AECCE2D0F3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7699-C466-4996-ADED-71C8160E04A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5EE-450D-4102-8FB2-AECCE2D0F3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7699-C466-4996-ADED-71C8160E04A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5EE-450D-4102-8FB2-AECCE2D0F3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7699-C466-4996-ADED-71C8160E04A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5EE-450D-4102-8FB2-AECCE2D0F3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7699-C466-4996-ADED-71C8160E04A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5EE-450D-4102-8FB2-AECCE2D0F3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7699-C466-4996-ADED-71C8160E04A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5EE-450D-4102-8FB2-AECCE2D0F3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7699-C466-4996-ADED-71C8160E04A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5EE-450D-4102-8FB2-AECCE2D0F3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7699-C466-4996-ADED-71C8160E04A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5EE-450D-4102-8FB2-AECCE2D0F3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7699-C466-4996-ADED-71C8160E04A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5EE-450D-4102-8FB2-AECCE2D0F3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514600"/>
            <a:ext cx="7772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7699-C466-4996-ADED-71C8160E04A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5EE-450D-4102-8FB2-AECCE2D0F3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600200"/>
            <a:ext cx="1295400" cy="2895600"/>
          </a:xfrm>
        </p:spPr>
        <p:txBody>
          <a:bodyPr lIns="0" rIns="0" anchor="ctr">
            <a:normAutofit/>
          </a:bodyPr>
          <a:lstStyle>
            <a:lvl1pPr marL="0" indent="0" algn="r">
              <a:buNone/>
              <a:defRPr sz="9600" b="1"/>
            </a:lvl1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6546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 0 " pathEditMode="relative" ptsTypes="AA">
                                      <p:cBhvr>
                                        <p:cTn id="13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7" y="0"/>
            <a:ext cx="9144000" cy="838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4754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7699-C466-4996-ADED-71C8160E04A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645EE-450D-4102-8FB2-AECCE2D0F3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838200"/>
            <a:ext cx="9144000" cy="53340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7F7F7F"/>
                </a:solidFill>
              </a:defRPr>
            </a:lvl1pPr>
          </a:lstStyle>
          <a:p>
            <a:pPr lvl="0"/>
            <a:r>
              <a:rPr lang="en-US" dirty="0"/>
              <a:t>Click to edit sub-title</a:t>
            </a:r>
          </a:p>
        </p:txBody>
      </p:sp>
    </p:spTree>
    <p:extLst>
      <p:ext uri="{BB962C8B-B14F-4D97-AF65-F5344CB8AC3E}">
        <p14:creationId xmlns:p14="http://schemas.microsoft.com/office/powerpoint/2010/main" val="3131334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77699-C466-4996-ADED-71C8160E04A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645EE-450D-4102-8FB2-AECCE2D0F3D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E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130425"/>
            <a:ext cx="6096000" cy="917575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US" dirty="0"/>
              <a:t>APOLOGETICS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5372" y="3276599"/>
            <a:ext cx="6096000" cy="685801"/>
          </a:xfrm>
          <a:solidFill>
            <a:schemeClr val="bg1"/>
          </a:solidFill>
        </p:spPr>
        <p:txBody>
          <a:bodyPr tIns="0" bIns="0" anchor="ctr">
            <a:normAutofit/>
          </a:bodyPr>
          <a:lstStyle/>
          <a:p>
            <a:pPr algn="l"/>
            <a:r>
              <a:rPr lang="en-US" sz="4000" dirty="0"/>
              <a:t>IN ONE LESSON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F22169-13AA-8440-B3C8-72C2711974BC}"/>
              </a:ext>
            </a:extLst>
          </p:cNvPr>
          <p:cNvGrpSpPr/>
          <p:nvPr/>
        </p:nvGrpSpPr>
        <p:grpSpPr>
          <a:xfrm>
            <a:off x="3276600" y="4038600"/>
            <a:ext cx="1169350" cy="846286"/>
            <a:chOff x="3214537" y="3877969"/>
            <a:chExt cx="1169350" cy="84628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55D7117-B840-B442-A27C-D9D71A5CBC8D}"/>
                </a:ext>
              </a:extLst>
            </p:cNvPr>
            <p:cNvGrpSpPr/>
            <p:nvPr/>
          </p:nvGrpSpPr>
          <p:grpSpPr>
            <a:xfrm>
              <a:off x="3214537" y="3877969"/>
              <a:ext cx="1169350" cy="846286"/>
              <a:chOff x="3148191" y="3904594"/>
              <a:chExt cx="1169350" cy="846286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6CBF57-D364-DF4D-B7B6-A61612247736}"/>
                  </a:ext>
                </a:extLst>
              </p:cNvPr>
              <p:cNvSpPr txBox="1"/>
              <p:nvPr/>
            </p:nvSpPr>
            <p:spPr>
              <a:xfrm rot="21401300">
                <a:off x="3148191" y="4227660"/>
                <a:ext cx="11693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latin typeface="Gabriola" pitchFamily="82" charset="0"/>
                    <a:ea typeface="Brush Script MT" panose="03060802040406070304" pitchFamily="66" charset="-122"/>
                    <a:cs typeface="Brush Script MT" panose="03060802040406070304" pitchFamily="66" charset="-122"/>
                  </a:rPr>
                  <a:t>almost</a:t>
                </a:r>
                <a:endParaRPr lang="en-US" sz="2400" dirty="0">
                  <a:solidFill>
                    <a:schemeClr val="bg1"/>
                  </a:solidFill>
                  <a:latin typeface="Gabriola" pitchFamily="82" charset="0"/>
                  <a:ea typeface="Brush Script MT" panose="03060802040406070304" pitchFamily="66" charset="-122"/>
                  <a:cs typeface="Brush Script MT" panose="03060802040406070304" pitchFamily="66" charset="-122"/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20960-BDA9-A249-9AB2-149B272194C4}"/>
                  </a:ext>
                </a:extLst>
              </p:cNvPr>
              <p:cNvSpPr/>
              <p:nvPr/>
            </p:nvSpPr>
            <p:spPr>
              <a:xfrm rot="11370456">
                <a:off x="3447206" y="3904594"/>
                <a:ext cx="172295" cy="134007"/>
              </a:xfrm>
              <a:custGeom>
                <a:avLst/>
                <a:gdLst>
                  <a:gd name="connsiteX0" fmla="*/ 0 w 283779"/>
                  <a:gd name="connsiteY0" fmla="*/ 94593 h 220717"/>
                  <a:gd name="connsiteX1" fmla="*/ 73572 w 283779"/>
                  <a:gd name="connsiteY1" fmla="*/ 147145 h 220717"/>
                  <a:gd name="connsiteX2" fmla="*/ 105103 w 283779"/>
                  <a:gd name="connsiteY2" fmla="*/ 157655 h 220717"/>
                  <a:gd name="connsiteX3" fmla="*/ 168165 w 283779"/>
                  <a:gd name="connsiteY3" fmla="*/ 189186 h 220717"/>
                  <a:gd name="connsiteX4" fmla="*/ 199696 w 283779"/>
                  <a:gd name="connsiteY4" fmla="*/ 220717 h 220717"/>
                  <a:gd name="connsiteX5" fmla="*/ 220717 w 283779"/>
                  <a:gd name="connsiteY5" fmla="*/ 189186 h 220717"/>
                  <a:gd name="connsiteX6" fmla="*/ 241738 w 283779"/>
                  <a:gd name="connsiteY6" fmla="*/ 126124 h 220717"/>
                  <a:gd name="connsiteX7" fmla="*/ 252248 w 283779"/>
                  <a:gd name="connsiteY7" fmla="*/ 94593 h 220717"/>
                  <a:gd name="connsiteX8" fmla="*/ 262759 w 283779"/>
                  <a:gd name="connsiteY8" fmla="*/ 63062 h 220717"/>
                  <a:gd name="connsiteX9" fmla="*/ 283779 w 283779"/>
                  <a:gd name="connsiteY9" fmla="*/ 0 h 220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3779" h="220717">
                    <a:moveTo>
                      <a:pt x="0" y="94593"/>
                    </a:moveTo>
                    <a:cubicBezTo>
                      <a:pt x="24524" y="112110"/>
                      <a:pt x="47729" y="131639"/>
                      <a:pt x="73572" y="147145"/>
                    </a:cubicBezTo>
                    <a:cubicBezTo>
                      <a:pt x="83072" y="152845"/>
                      <a:pt x="95194" y="152700"/>
                      <a:pt x="105103" y="157655"/>
                    </a:cubicBezTo>
                    <a:cubicBezTo>
                      <a:pt x="186601" y="198404"/>
                      <a:pt x="88911" y="162769"/>
                      <a:pt x="168165" y="189186"/>
                    </a:cubicBezTo>
                    <a:cubicBezTo>
                      <a:pt x="178675" y="199696"/>
                      <a:pt x="184832" y="220717"/>
                      <a:pt x="199696" y="220717"/>
                    </a:cubicBezTo>
                    <a:cubicBezTo>
                      <a:pt x="212328" y="220717"/>
                      <a:pt x="215587" y="200729"/>
                      <a:pt x="220717" y="189186"/>
                    </a:cubicBezTo>
                    <a:cubicBezTo>
                      <a:pt x="229716" y="168938"/>
                      <a:pt x="234731" y="147145"/>
                      <a:pt x="241738" y="126124"/>
                    </a:cubicBezTo>
                    <a:lnTo>
                      <a:pt x="252248" y="94593"/>
                    </a:lnTo>
                    <a:cubicBezTo>
                      <a:pt x="255752" y="84083"/>
                      <a:pt x="260072" y="73810"/>
                      <a:pt x="262759" y="63062"/>
                    </a:cubicBezTo>
                    <a:cubicBezTo>
                      <a:pt x="275169" y="13421"/>
                      <a:pt x="266809" y="33941"/>
                      <a:pt x="283779" y="0"/>
                    </a:cubicBez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2B5014E-4D9B-334F-932F-3857C3E1855A}"/>
                </a:ext>
              </a:extLst>
            </p:cNvPr>
            <p:cNvSpPr/>
            <p:nvPr/>
          </p:nvSpPr>
          <p:spPr>
            <a:xfrm>
              <a:off x="3599699" y="4007070"/>
              <a:ext cx="31917" cy="325820"/>
            </a:xfrm>
            <a:custGeom>
              <a:avLst/>
              <a:gdLst>
                <a:gd name="connsiteX0" fmla="*/ 0 w 31917"/>
                <a:gd name="connsiteY0" fmla="*/ 0 h 325820"/>
                <a:gd name="connsiteX1" fmla="*/ 21021 w 31917"/>
                <a:gd name="connsiteY1" fmla="*/ 73572 h 325820"/>
                <a:gd name="connsiteX2" fmla="*/ 31531 w 31917"/>
                <a:gd name="connsiteY2" fmla="*/ 325820 h 325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917" h="325820">
                  <a:moveTo>
                    <a:pt x="0" y="0"/>
                  </a:moveTo>
                  <a:cubicBezTo>
                    <a:pt x="7007" y="24524"/>
                    <a:pt x="17043" y="48379"/>
                    <a:pt x="21021" y="73572"/>
                  </a:cubicBezTo>
                  <a:cubicBezTo>
                    <a:pt x="35022" y="162246"/>
                    <a:pt x="31531" y="236581"/>
                    <a:pt x="31531" y="32582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89C892F9-E90B-8443-8DA3-A0A4CBA13206}"/>
              </a:ext>
            </a:extLst>
          </p:cNvPr>
          <p:cNvSpPr txBox="1">
            <a:spLocks/>
          </p:cNvSpPr>
          <p:nvPr/>
        </p:nvSpPr>
        <p:spPr>
          <a:xfrm>
            <a:off x="7949004" y="4355359"/>
            <a:ext cx="1197624" cy="32222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chemeClr val="bg1"/>
                </a:solidFill>
              </a:rPr>
              <a:t>Ai1L.net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83BC5CCA-5BCD-AF42-8147-9BA35715C0FE}"/>
              </a:ext>
            </a:extLst>
          </p:cNvPr>
          <p:cNvSpPr txBox="1">
            <a:spLocks/>
          </p:cNvSpPr>
          <p:nvPr/>
        </p:nvSpPr>
        <p:spPr>
          <a:xfrm>
            <a:off x="3045371" y="5269758"/>
            <a:ext cx="6067097" cy="113104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700" b="1" dirty="0"/>
              <a:t>Lesson 24</a:t>
            </a:r>
            <a:br>
              <a:rPr lang="en-US" sz="7700" dirty="0"/>
            </a:br>
            <a:endParaRPr lang="en-US" sz="500" dirty="0"/>
          </a:p>
          <a:p>
            <a:pPr algn="l"/>
            <a:r>
              <a:rPr lang="en-US" sz="3700" dirty="0"/>
              <a:t>Jesus Died by Crucifixion;</a:t>
            </a:r>
            <a:br>
              <a:rPr lang="en-US" sz="3700" dirty="0"/>
            </a:br>
            <a:r>
              <a:rPr lang="en-US" sz="3700" dirty="0"/>
              <a:t>His Disciples Believed He Resurrected</a:t>
            </a:r>
          </a:p>
        </p:txBody>
      </p:sp>
    </p:spTree>
    <p:extLst>
      <p:ext uri="{BB962C8B-B14F-4D97-AF65-F5344CB8AC3E}">
        <p14:creationId xmlns:p14="http://schemas.microsoft.com/office/powerpoint/2010/main" val="3342830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1524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Key Takeaways (review)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C7293A5-9F6A-4A42-B28F-77E682AEFD25}"/>
              </a:ext>
            </a:extLst>
          </p:cNvPr>
          <p:cNvGrpSpPr/>
          <p:nvPr/>
        </p:nvGrpSpPr>
        <p:grpSpPr>
          <a:xfrm>
            <a:off x="533400" y="2895600"/>
            <a:ext cx="8001000" cy="685800"/>
            <a:chOff x="533400" y="2895600"/>
            <a:chExt cx="8001000" cy="6858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36B79E8-7DCE-0445-821B-D0B03DF78CAA}"/>
                </a:ext>
              </a:extLst>
            </p:cNvPr>
            <p:cNvSpPr/>
            <p:nvPr/>
          </p:nvSpPr>
          <p:spPr>
            <a:xfrm>
              <a:off x="533400" y="2895600"/>
              <a:ext cx="685800" cy="685800"/>
            </a:xfrm>
            <a:prstGeom prst="ellipse">
              <a:avLst/>
            </a:prstGeom>
            <a:solidFill>
              <a:srgbClr val="009E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330B7FE-A318-9845-8F59-02267667CECB}"/>
                </a:ext>
              </a:extLst>
            </p:cNvPr>
            <p:cNvSpPr/>
            <p:nvPr/>
          </p:nvSpPr>
          <p:spPr>
            <a:xfrm>
              <a:off x="1447800" y="2895600"/>
              <a:ext cx="7086600" cy="685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Don’t give up quickly, some of the fulfillments </a:t>
              </a:r>
              <a:r>
                <a:rPr lang="en-US" sz="2400" b="1" dirty="0">
                  <a:solidFill>
                    <a:schemeClr val="tx1"/>
                  </a:solidFill>
                  <a:highlight>
                    <a:srgbClr val="C00002"/>
                  </a:highlight>
                </a:rPr>
                <a:t>require lots of context</a:t>
              </a:r>
              <a:r>
                <a:rPr lang="en-US" sz="2400" dirty="0">
                  <a:solidFill>
                    <a:schemeClr val="tx1"/>
                  </a:solidFill>
                </a:rPr>
                <a:t>; expect open questions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5676BE1-B42E-AD44-9DD5-FF20BEB47F36}"/>
              </a:ext>
            </a:extLst>
          </p:cNvPr>
          <p:cNvGrpSpPr/>
          <p:nvPr/>
        </p:nvGrpSpPr>
        <p:grpSpPr>
          <a:xfrm>
            <a:off x="533400" y="1833265"/>
            <a:ext cx="8001000" cy="685800"/>
            <a:chOff x="533400" y="1833265"/>
            <a:chExt cx="8001000" cy="6858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76D5A54-0C8D-804B-88A0-6609A2C1405C}"/>
                </a:ext>
              </a:extLst>
            </p:cNvPr>
            <p:cNvSpPr/>
            <p:nvPr/>
          </p:nvSpPr>
          <p:spPr>
            <a:xfrm>
              <a:off x="533400" y="1833265"/>
              <a:ext cx="685800" cy="685800"/>
            </a:xfrm>
            <a:prstGeom prst="ellipse">
              <a:avLst/>
            </a:prstGeom>
            <a:solidFill>
              <a:srgbClr val="009E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12C2DC5-5653-DC4B-98A2-76A0B8F08883}"/>
                </a:ext>
              </a:extLst>
            </p:cNvPr>
            <p:cNvSpPr/>
            <p:nvPr/>
          </p:nvSpPr>
          <p:spPr>
            <a:xfrm>
              <a:off x="1447800" y="1833265"/>
              <a:ext cx="7086600" cy="685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Prophecy fulfillments come in a </a:t>
              </a:r>
              <a:r>
                <a:rPr lang="en-US" sz="2400" b="1" dirty="0">
                  <a:solidFill>
                    <a:schemeClr val="tx1"/>
                  </a:solidFill>
                  <a:highlight>
                    <a:srgbClr val="C00002"/>
                  </a:highlight>
                </a:rPr>
                <a:t>variety of forms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A87E3B-646D-1E41-9334-E8ECC604DF38}"/>
              </a:ext>
            </a:extLst>
          </p:cNvPr>
          <p:cNvGrpSpPr/>
          <p:nvPr/>
        </p:nvGrpSpPr>
        <p:grpSpPr>
          <a:xfrm>
            <a:off x="533400" y="3957935"/>
            <a:ext cx="8001000" cy="685800"/>
            <a:chOff x="533400" y="2895600"/>
            <a:chExt cx="8001000" cy="6858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02F0422-D845-1E4E-A7C5-B2069A212A2E}"/>
                </a:ext>
              </a:extLst>
            </p:cNvPr>
            <p:cNvSpPr/>
            <p:nvPr/>
          </p:nvSpPr>
          <p:spPr>
            <a:xfrm>
              <a:off x="533400" y="2895600"/>
              <a:ext cx="685800" cy="685800"/>
            </a:xfrm>
            <a:prstGeom prst="ellipse">
              <a:avLst/>
            </a:prstGeom>
            <a:solidFill>
              <a:srgbClr val="009E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3230A02-C278-BF4F-B7D5-75C53BF2251C}"/>
                </a:ext>
              </a:extLst>
            </p:cNvPr>
            <p:cNvSpPr/>
            <p:nvPr/>
          </p:nvSpPr>
          <p:spPr>
            <a:xfrm>
              <a:off x="1447800" y="2895600"/>
              <a:ext cx="7086600" cy="685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Some fulfillments make a better case for defending the Gospel than others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CE1C68-C736-2F42-AD3D-29FCB9A69CAD}"/>
              </a:ext>
            </a:extLst>
          </p:cNvPr>
          <p:cNvCxnSpPr>
            <a:cxnSpLocks/>
          </p:cNvCxnSpPr>
          <p:nvPr/>
        </p:nvCxnSpPr>
        <p:spPr>
          <a:xfrm>
            <a:off x="304800" y="1066800"/>
            <a:ext cx="8534400" cy="0"/>
          </a:xfrm>
          <a:prstGeom prst="line">
            <a:avLst/>
          </a:prstGeom>
          <a:ln w="76200">
            <a:solidFill>
              <a:srgbClr val="009E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35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152400"/>
            <a:ext cx="8610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b="1" dirty="0"/>
              <a:t>Four facts support Jesus’ resurrection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C7293A5-9F6A-4A42-B28F-77E682AEFD25}"/>
              </a:ext>
            </a:extLst>
          </p:cNvPr>
          <p:cNvGrpSpPr/>
          <p:nvPr/>
        </p:nvGrpSpPr>
        <p:grpSpPr>
          <a:xfrm>
            <a:off x="533400" y="2895600"/>
            <a:ext cx="8001000" cy="685800"/>
            <a:chOff x="533400" y="2895600"/>
            <a:chExt cx="8001000" cy="6858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36B79E8-7DCE-0445-821B-D0B03DF78CAA}"/>
                </a:ext>
              </a:extLst>
            </p:cNvPr>
            <p:cNvSpPr/>
            <p:nvPr/>
          </p:nvSpPr>
          <p:spPr>
            <a:xfrm>
              <a:off x="533400" y="2895600"/>
              <a:ext cx="685800" cy="685800"/>
            </a:xfrm>
            <a:prstGeom prst="ellipse">
              <a:avLst/>
            </a:prstGeom>
            <a:solidFill>
              <a:srgbClr val="009E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330B7FE-A318-9845-8F59-02267667CECB}"/>
                </a:ext>
              </a:extLst>
            </p:cNvPr>
            <p:cNvSpPr/>
            <p:nvPr/>
          </p:nvSpPr>
          <p:spPr>
            <a:xfrm>
              <a:off x="1447800" y="2895600"/>
              <a:ext cx="7086600" cy="685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Jesus’ disciples believed he resurrected</a:t>
              </a:r>
              <a:endParaRPr lang="en-US" sz="2400" b="1" dirty="0">
                <a:solidFill>
                  <a:schemeClr val="tx1"/>
                </a:solidFill>
                <a:highlight>
                  <a:srgbClr val="C00002"/>
                </a:highlight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5676BE1-B42E-AD44-9DD5-FF20BEB47F36}"/>
              </a:ext>
            </a:extLst>
          </p:cNvPr>
          <p:cNvGrpSpPr/>
          <p:nvPr/>
        </p:nvGrpSpPr>
        <p:grpSpPr>
          <a:xfrm>
            <a:off x="533400" y="1833265"/>
            <a:ext cx="8001000" cy="685800"/>
            <a:chOff x="533400" y="1833265"/>
            <a:chExt cx="8001000" cy="6858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76D5A54-0C8D-804B-88A0-6609A2C1405C}"/>
                </a:ext>
              </a:extLst>
            </p:cNvPr>
            <p:cNvSpPr/>
            <p:nvPr/>
          </p:nvSpPr>
          <p:spPr>
            <a:xfrm>
              <a:off x="533400" y="1833265"/>
              <a:ext cx="685800" cy="685800"/>
            </a:xfrm>
            <a:prstGeom prst="ellipse">
              <a:avLst/>
            </a:prstGeom>
            <a:solidFill>
              <a:srgbClr val="009E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12C2DC5-5653-DC4B-98A2-76A0B8F08883}"/>
                </a:ext>
              </a:extLst>
            </p:cNvPr>
            <p:cNvSpPr/>
            <p:nvPr/>
          </p:nvSpPr>
          <p:spPr>
            <a:xfrm>
              <a:off x="1447800" y="1833265"/>
              <a:ext cx="7086600" cy="685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Jesus was crucified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A87E3B-646D-1E41-9334-E8ECC604DF38}"/>
              </a:ext>
            </a:extLst>
          </p:cNvPr>
          <p:cNvGrpSpPr/>
          <p:nvPr/>
        </p:nvGrpSpPr>
        <p:grpSpPr>
          <a:xfrm>
            <a:off x="533400" y="3957934"/>
            <a:ext cx="8001000" cy="685801"/>
            <a:chOff x="533400" y="2895599"/>
            <a:chExt cx="8001000" cy="685801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02F0422-D845-1E4E-A7C5-B2069A212A2E}"/>
                </a:ext>
              </a:extLst>
            </p:cNvPr>
            <p:cNvSpPr/>
            <p:nvPr/>
          </p:nvSpPr>
          <p:spPr>
            <a:xfrm>
              <a:off x="533400" y="2895600"/>
              <a:ext cx="685800" cy="685800"/>
            </a:xfrm>
            <a:prstGeom prst="ellipse">
              <a:avLst/>
            </a:prstGeom>
            <a:solidFill>
              <a:srgbClr val="009E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3230A02-C278-BF4F-B7D5-75C53BF2251C}"/>
                </a:ext>
              </a:extLst>
            </p:cNvPr>
            <p:cNvSpPr/>
            <p:nvPr/>
          </p:nvSpPr>
          <p:spPr>
            <a:xfrm>
              <a:off x="1447800" y="2895599"/>
              <a:ext cx="7086600" cy="685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Early skeptics (Paul, James) became believers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CE1C68-C736-2F42-AD3D-29FCB9A69CAD}"/>
              </a:ext>
            </a:extLst>
          </p:cNvPr>
          <p:cNvCxnSpPr>
            <a:cxnSpLocks/>
          </p:cNvCxnSpPr>
          <p:nvPr/>
        </p:nvCxnSpPr>
        <p:spPr>
          <a:xfrm>
            <a:off x="304800" y="1066800"/>
            <a:ext cx="8534400" cy="0"/>
          </a:xfrm>
          <a:prstGeom prst="line">
            <a:avLst/>
          </a:prstGeom>
          <a:ln w="76200">
            <a:solidFill>
              <a:srgbClr val="009E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ECAA8FF-768A-7944-924A-A29449EC97C0}"/>
              </a:ext>
            </a:extLst>
          </p:cNvPr>
          <p:cNvGrpSpPr/>
          <p:nvPr/>
        </p:nvGrpSpPr>
        <p:grpSpPr>
          <a:xfrm>
            <a:off x="533400" y="5020268"/>
            <a:ext cx="8001000" cy="685801"/>
            <a:chOff x="533400" y="2895599"/>
            <a:chExt cx="8001000" cy="68580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AFA8FE9-82C4-0847-84FF-3C10C4587C1B}"/>
                </a:ext>
              </a:extLst>
            </p:cNvPr>
            <p:cNvSpPr/>
            <p:nvPr/>
          </p:nvSpPr>
          <p:spPr>
            <a:xfrm>
              <a:off x="533400" y="2895600"/>
              <a:ext cx="685800" cy="685800"/>
            </a:xfrm>
            <a:prstGeom prst="ellipse">
              <a:avLst/>
            </a:prstGeom>
            <a:solidFill>
              <a:srgbClr val="009E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C515F0-B613-A840-BDCE-9D1ADCB412C5}"/>
                </a:ext>
              </a:extLst>
            </p:cNvPr>
            <p:cNvSpPr/>
            <p:nvPr/>
          </p:nvSpPr>
          <p:spPr>
            <a:xfrm>
              <a:off x="1447800" y="2895599"/>
              <a:ext cx="7086600" cy="685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The tomb was empty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085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6D0AD62-610F-2343-9B0E-52F648458EA8}"/>
              </a:ext>
            </a:extLst>
          </p:cNvPr>
          <p:cNvGrpSpPr/>
          <p:nvPr/>
        </p:nvGrpSpPr>
        <p:grpSpPr>
          <a:xfrm>
            <a:off x="209549" y="1669464"/>
            <a:ext cx="8724901" cy="954107"/>
            <a:chOff x="304800" y="4648200"/>
            <a:chExt cx="8724901" cy="95410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5E69FF4-5D6C-1F4A-BC1D-8328E1004154}"/>
                </a:ext>
              </a:extLst>
            </p:cNvPr>
            <p:cNvSpPr txBox="1"/>
            <p:nvPr/>
          </p:nvSpPr>
          <p:spPr>
            <a:xfrm>
              <a:off x="304800" y="4648200"/>
              <a:ext cx="11479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009EC0"/>
                  </a:solidFill>
                </a:rPr>
                <a:t>What?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796A5EC-87C6-D048-8010-771FD1CA8E24}"/>
                </a:ext>
              </a:extLst>
            </p:cNvPr>
            <p:cNvSpPr txBox="1"/>
            <p:nvPr/>
          </p:nvSpPr>
          <p:spPr>
            <a:xfrm>
              <a:off x="1600201" y="4648200"/>
              <a:ext cx="74295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Show that we have good reasons for believing in Jesus’ crucifixion and resurrection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6DEED69-411E-5C47-8C2F-1FA7F3AC4BAB}"/>
              </a:ext>
            </a:extLst>
          </p:cNvPr>
          <p:cNvGrpSpPr/>
          <p:nvPr/>
        </p:nvGrpSpPr>
        <p:grpSpPr>
          <a:xfrm>
            <a:off x="209549" y="2806005"/>
            <a:ext cx="8724901" cy="1384995"/>
            <a:chOff x="304800" y="4648200"/>
            <a:chExt cx="8724901" cy="138499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BE67C1E-EE53-F64B-A1C4-C71C7BD5283F}"/>
                </a:ext>
              </a:extLst>
            </p:cNvPr>
            <p:cNvSpPr txBox="1"/>
            <p:nvPr/>
          </p:nvSpPr>
          <p:spPr>
            <a:xfrm>
              <a:off x="304800" y="4648200"/>
              <a:ext cx="10147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009EC0"/>
                  </a:solidFill>
                </a:rPr>
                <a:t>Why?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4657A2D-A10C-1745-AFDB-1C0FC5EA2AAD}"/>
                </a:ext>
              </a:extLst>
            </p:cNvPr>
            <p:cNvSpPr txBox="1"/>
            <p:nvPr/>
          </p:nvSpPr>
          <p:spPr>
            <a:xfrm>
              <a:off x="1600201" y="4648200"/>
              <a:ext cx="74295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So that can have a strong argument for the Gospel story based on a small set of facts that are</a:t>
              </a:r>
            </a:p>
            <a:p>
              <a:r>
                <a:rPr lang="en-US" sz="2800" dirty="0"/>
                <a:t>widely accepted</a:t>
              </a:r>
              <a:endParaRPr lang="en-US" sz="2800" b="1" dirty="0">
                <a:highlight>
                  <a:srgbClr val="C00002"/>
                </a:highlight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93A2E7B-FE2C-7045-B882-6D1EC3306C1D}"/>
              </a:ext>
            </a:extLst>
          </p:cNvPr>
          <p:cNvGrpSpPr/>
          <p:nvPr/>
        </p:nvGrpSpPr>
        <p:grpSpPr>
          <a:xfrm>
            <a:off x="209549" y="4382631"/>
            <a:ext cx="8724901" cy="2246769"/>
            <a:chOff x="304800" y="4648200"/>
            <a:chExt cx="8724901" cy="224676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C9CB31-E9E8-7549-8460-8E8840BD1585}"/>
                </a:ext>
              </a:extLst>
            </p:cNvPr>
            <p:cNvSpPr txBox="1"/>
            <p:nvPr/>
          </p:nvSpPr>
          <p:spPr>
            <a:xfrm>
              <a:off x="304800" y="4648200"/>
              <a:ext cx="10200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009EC0"/>
                  </a:solidFill>
                </a:rPr>
                <a:t>How?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729ADED-FFF5-454C-BE17-6323C474D829}"/>
                </a:ext>
              </a:extLst>
            </p:cNvPr>
            <p:cNvSpPr txBox="1"/>
            <p:nvPr/>
          </p:nvSpPr>
          <p:spPr>
            <a:xfrm>
              <a:off x="1600201" y="4648200"/>
              <a:ext cx="7429500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By showing that:</a:t>
              </a:r>
            </a:p>
            <a:p>
              <a:pPr marL="514350" indent="-514350">
                <a:buAutoNum type="arabicPeriod"/>
              </a:pPr>
              <a:r>
                <a:rPr lang="en-US" sz="2800" dirty="0"/>
                <a:t>Jesus’ crucifixion is supported even by non-Christians</a:t>
              </a:r>
            </a:p>
            <a:p>
              <a:pPr marL="514350" indent="-514350">
                <a:buAutoNum type="arabicPeriod"/>
              </a:pPr>
              <a:r>
                <a:rPr lang="en-US" sz="2800" dirty="0"/>
                <a:t>Jesus disciples’ willingness to die show they believed what they saw</a:t>
              </a:r>
              <a:endParaRPr lang="en-US" sz="2800" b="1" dirty="0">
                <a:highlight>
                  <a:srgbClr val="C00002"/>
                </a:highlight>
              </a:endParaRP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9B462F9-C753-8044-8DE2-965ABC154D9C}"/>
              </a:ext>
            </a:extLst>
          </p:cNvPr>
          <p:cNvCxnSpPr>
            <a:cxnSpLocks/>
          </p:cNvCxnSpPr>
          <p:nvPr/>
        </p:nvCxnSpPr>
        <p:spPr>
          <a:xfrm>
            <a:off x="1373874" y="1669464"/>
            <a:ext cx="0" cy="4883736"/>
          </a:xfrm>
          <a:prstGeom prst="line">
            <a:avLst/>
          </a:prstGeom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43D1156-26DE-A44F-B5F8-AACFA794E957}"/>
              </a:ext>
            </a:extLst>
          </p:cNvPr>
          <p:cNvSpPr txBox="1"/>
          <p:nvPr/>
        </p:nvSpPr>
        <p:spPr>
          <a:xfrm>
            <a:off x="209549" y="708674"/>
            <a:ext cx="89344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IDEA IN BRIEF</a:t>
            </a:r>
          </a:p>
        </p:txBody>
      </p:sp>
    </p:spTree>
    <p:extLst>
      <p:ext uri="{BB962C8B-B14F-4D97-AF65-F5344CB8AC3E}">
        <p14:creationId xmlns:p14="http://schemas.microsoft.com/office/powerpoint/2010/main" val="117275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 the non-Christian accounts of Jesus’ death by crucifixion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94317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7F3A231B-5D70-D046-B1D4-165C06312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14600" y="-518357"/>
            <a:ext cx="6625728" cy="9014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930AA5-728D-884D-A826-4D923E871B31}"/>
              </a:ext>
            </a:extLst>
          </p:cNvPr>
          <p:cNvSpPr/>
          <p:nvPr/>
        </p:nvSpPr>
        <p:spPr>
          <a:xfrm>
            <a:off x="0" y="0"/>
            <a:ext cx="6019800" cy="6858000"/>
          </a:xfrm>
          <a:prstGeom prst="rect">
            <a:avLst/>
          </a:prstGeom>
          <a:gradFill flip="none" rotWithShape="1">
            <a:gsLst>
              <a:gs pos="24000">
                <a:srgbClr val="000000"/>
              </a:gs>
              <a:gs pos="50000">
                <a:srgbClr val="000000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2819400"/>
            <a:ext cx="4903487" cy="22467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400000">
            <a:off x="2326988" y="2914599"/>
            <a:ext cx="49492" cy="3669094"/>
          </a:xfrm>
          <a:prstGeom prst="rect">
            <a:avLst/>
          </a:prstGeom>
          <a:solidFill>
            <a:srgbClr val="009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9096" y="1382085"/>
            <a:ext cx="37471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“...one is obliged to say, 'Here was a man. </a:t>
            </a:r>
            <a:r>
              <a:rPr lang="en-US" sz="3200" b="1" dirty="0">
                <a:highlight>
                  <a:srgbClr val="C00002"/>
                </a:highlight>
              </a:rPr>
              <a:t>This part of the tale could not have been invented</a:t>
            </a:r>
            <a:r>
              <a:rPr lang="en-US" sz="3200" dirty="0"/>
              <a:t>.'”</a:t>
            </a:r>
            <a:endParaRPr lang="en-US" sz="3200" dirty="0">
              <a:latin typeface="Avenir Book"/>
              <a:cs typeface="Avenir Book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6243" y="5045093"/>
            <a:ext cx="4952999" cy="14583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t"/>
          <a:lstStyle/>
          <a:p>
            <a:r>
              <a:rPr lang="en-US" sz="2000" b="1" dirty="0">
                <a:solidFill>
                  <a:schemeClr val="tx1"/>
                </a:solidFill>
              </a:rPr>
              <a:t>H.G. WELLS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i="1" dirty="0">
                <a:solidFill>
                  <a:schemeClr val="tx1"/>
                </a:solidFill>
              </a:rPr>
              <a:t>The Outline of History, Volume 1 (page 497)</a:t>
            </a:r>
          </a:p>
          <a:p>
            <a:endParaRPr lang="en-US" sz="2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45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0" presetClass="path" presetSubtype="0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animMotion origin="layout" path="M 0.04236 -7.40741E-7 L -8.33333E-7 -7.40741E-7 " pathEditMode="relative" rAng="0" ptsTypes="AA">
                                      <p:cBhvr>
                                        <p:cTn id="19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0.0169 L 1.94444E-6 2.22222E-6 " pathEditMode="relative" rAng="0" ptsTypes="AA">
                                      <p:cBhvr>
                                        <p:cTn id="25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6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5" grpId="1"/>
      <p:bldP spid="7" grpId="0" animBg="1"/>
      <p:bldP spid="8" grpId="0"/>
      <p:bldP spid="8" grpId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 the Gospels accounts of Jesus’ death by crucifixion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25560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portance of Orthodoxy, from Heretics by G. K. Chesterton ...">
            <a:extLst>
              <a:ext uri="{FF2B5EF4-FFF2-40B4-BE49-F238E27FC236}">
                <a16:creationId xmlns:a16="http://schemas.microsoft.com/office/drawing/2014/main" id="{E5C920EF-1FBD-714D-9170-DCCE26721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3" y="0"/>
            <a:ext cx="7386637" cy="9001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930AA5-728D-884D-A826-4D923E871B31}"/>
              </a:ext>
            </a:extLst>
          </p:cNvPr>
          <p:cNvSpPr/>
          <p:nvPr/>
        </p:nvSpPr>
        <p:spPr>
          <a:xfrm>
            <a:off x="0" y="0"/>
            <a:ext cx="6019800" cy="6858000"/>
          </a:xfrm>
          <a:prstGeom prst="rect">
            <a:avLst/>
          </a:prstGeom>
          <a:gradFill flip="none" rotWithShape="1">
            <a:gsLst>
              <a:gs pos="24000">
                <a:srgbClr val="000000"/>
              </a:gs>
              <a:gs pos="50000">
                <a:srgbClr val="000000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Rectangle 4"/>
          <p:cNvSpPr/>
          <p:nvPr/>
        </p:nvSpPr>
        <p:spPr>
          <a:xfrm>
            <a:off x="381000" y="2819400"/>
            <a:ext cx="4903487" cy="22467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400000">
            <a:off x="2326988" y="2914599"/>
            <a:ext cx="49492" cy="3669094"/>
          </a:xfrm>
          <a:prstGeom prst="rect">
            <a:avLst/>
          </a:prstGeom>
          <a:solidFill>
            <a:srgbClr val="009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9096" y="1382085"/>
            <a:ext cx="37471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“This is the sort of truth that is hard to explain because it is a fact; but </a:t>
            </a:r>
            <a:r>
              <a:rPr lang="en-US" sz="3200" b="1" dirty="0">
                <a:highlight>
                  <a:srgbClr val="C10102"/>
                </a:highlight>
              </a:rPr>
              <a:t>it is a fact to which we can call witnesses</a:t>
            </a:r>
            <a:r>
              <a:rPr lang="en-US" sz="3200" dirty="0"/>
              <a:t>”</a:t>
            </a:r>
            <a:endParaRPr lang="en-US" sz="3200" dirty="0">
              <a:latin typeface="Avenir Book"/>
              <a:cs typeface="Avenir Book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6244" y="5045093"/>
            <a:ext cx="3830038" cy="14583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t"/>
          <a:lstStyle/>
          <a:p>
            <a:r>
              <a:rPr lang="en-US" sz="2000" b="1" dirty="0">
                <a:solidFill>
                  <a:schemeClr val="tx1"/>
                </a:solidFill>
              </a:rPr>
              <a:t>G.K. CHESTERTON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i="1" dirty="0">
                <a:solidFill>
                  <a:schemeClr val="tx1"/>
                </a:solidFill>
              </a:rPr>
              <a:t>The Everlasting Man</a:t>
            </a:r>
          </a:p>
        </p:txBody>
      </p:sp>
    </p:spTree>
    <p:extLst>
      <p:ext uri="{BB962C8B-B14F-4D97-AF65-F5344CB8AC3E}">
        <p14:creationId xmlns:p14="http://schemas.microsoft.com/office/powerpoint/2010/main" val="426299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0" presetClass="path" presetSubtype="0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animMotion origin="layout" path="M 0.04236 -7.40741E-7 L -8.33333E-7 -7.40741E-7 " pathEditMode="relative" rAng="0" ptsTypes="AA">
                                      <p:cBhvr>
                                        <p:cTn id="19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0.0169 L -1.38889E-6 -7.40741E-7 " pathEditMode="relative" rAng="0" ptsTypes="AA">
                                      <p:cBhvr>
                                        <p:cTn id="25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6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5" grpId="1"/>
      <p:bldP spid="7" grpId="0" animBg="1"/>
      <p:bldP spid="8" grpId="0"/>
      <p:bldP spid="8" grpId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Document the claims of the early witnesses of Jesus’ resurrection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46039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CD23FC-75AC-004E-8ADA-681A87262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249925"/>
              </p:ext>
            </p:extLst>
          </p:nvPr>
        </p:nvGraphicFramePr>
        <p:xfrm>
          <a:off x="4856207" y="1676402"/>
          <a:ext cx="4267198" cy="3886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0682">
                  <a:extLst>
                    <a:ext uri="{9D8B030D-6E8A-4147-A177-3AD203B41FA5}">
                      <a16:colId xmlns:a16="http://schemas.microsoft.com/office/drawing/2014/main" val="3256627010"/>
                    </a:ext>
                  </a:extLst>
                </a:gridCol>
                <a:gridCol w="344129">
                  <a:extLst>
                    <a:ext uri="{9D8B030D-6E8A-4147-A177-3AD203B41FA5}">
                      <a16:colId xmlns:a16="http://schemas.microsoft.com/office/drawing/2014/main" val="2760839914"/>
                    </a:ext>
                  </a:extLst>
                </a:gridCol>
                <a:gridCol w="344129">
                  <a:extLst>
                    <a:ext uri="{9D8B030D-6E8A-4147-A177-3AD203B41FA5}">
                      <a16:colId xmlns:a16="http://schemas.microsoft.com/office/drawing/2014/main" val="3032634955"/>
                    </a:ext>
                  </a:extLst>
                </a:gridCol>
                <a:gridCol w="344129">
                  <a:extLst>
                    <a:ext uri="{9D8B030D-6E8A-4147-A177-3AD203B41FA5}">
                      <a16:colId xmlns:a16="http://schemas.microsoft.com/office/drawing/2014/main" val="999213998"/>
                    </a:ext>
                  </a:extLst>
                </a:gridCol>
                <a:gridCol w="344129">
                  <a:extLst>
                    <a:ext uri="{9D8B030D-6E8A-4147-A177-3AD203B41FA5}">
                      <a16:colId xmlns:a16="http://schemas.microsoft.com/office/drawing/2014/main" val="39879636"/>
                    </a:ext>
                  </a:extLst>
                </a:gridCol>
              </a:tblGrid>
              <a:tr h="55517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dirty="0">
                          <a:effectLst/>
                        </a:rPr>
                        <a:t>Philip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4141340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dirty="0">
                          <a:effectLst/>
                        </a:rPr>
                        <a:t>Bartholomew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5358034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dirty="0">
                          <a:effectLst/>
                        </a:rPr>
                        <a:t>Matthew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9670439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dirty="0">
                          <a:effectLst/>
                        </a:rPr>
                        <a:t>James, son of Alphaeus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8679175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dirty="0">
                          <a:effectLst/>
                        </a:rPr>
                        <a:t>Thaddeus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9024941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dirty="0">
                          <a:effectLst/>
                        </a:rPr>
                        <a:t>Simon the Zealot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478354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dirty="0">
                          <a:effectLst/>
                        </a:rPr>
                        <a:t>Matthias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122471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E162A64-2D16-3C47-A471-6B8A69321DF8}"/>
              </a:ext>
            </a:extLst>
          </p:cNvPr>
          <p:cNvSpPr txBox="1"/>
          <p:nvPr/>
        </p:nvSpPr>
        <p:spPr>
          <a:xfrm>
            <a:off x="156521" y="255595"/>
            <a:ext cx="75307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Which Apostles were martyred?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C9D771-88A4-9C4E-900C-07AFAE62DD12}"/>
              </a:ext>
            </a:extLst>
          </p:cNvPr>
          <p:cNvSpPr txBox="1"/>
          <p:nvPr/>
        </p:nvSpPr>
        <p:spPr>
          <a:xfrm>
            <a:off x="2514600" y="6858000"/>
            <a:ext cx="6096000" cy="102842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119063" indent="-1190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Source: “The Fate of the Apostles” by Josh McDowell</a:t>
            </a:r>
          </a:p>
          <a:p>
            <a:pPr marL="119063" indent="-1190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To be considered martyred, the person be killed </a:t>
            </a:r>
            <a:r>
              <a:rPr lang="en-US" sz="1400" i="1" dirty="0"/>
              <a:t>due to being a Christian</a:t>
            </a:r>
          </a:p>
          <a:p>
            <a:pPr marL="119063" indent="-1190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This list includes those that are not specifically part of the Twelve (like James)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51D455E-2878-7D48-BE14-86E8A0995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008005"/>
              </p:ext>
            </p:extLst>
          </p:nvPr>
        </p:nvGraphicFramePr>
        <p:xfrm>
          <a:off x="181235" y="1676403"/>
          <a:ext cx="4267198" cy="3886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0682">
                  <a:extLst>
                    <a:ext uri="{9D8B030D-6E8A-4147-A177-3AD203B41FA5}">
                      <a16:colId xmlns:a16="http://schemas.microsoft.com/office/drawing/2014/main" val="3256627010"/>
                    </a:ext>
                  </a:extLst>
                </a:gridCol>
                <a:gridCol w="344129">
                  <a:extLst>
                    <a:ext uri="{9D8B030D-6E8A-4147-A177-3AD203B41FA5}">
                      <a16:colId xmlns:a16="http://schemas.microsoft.com/office/drawing/2014/main" val="2760839914"/>
                    </a:ext>
                  </a:extLst>
                </a:gridCol>
                <a:gridCol w="344129">
                  <a:extLst>
                    <a:ext uri="{9D8B030D-6E8A-4147-A177-3AD203B41FA5}">
                      <a16:colId xmlns:a16="http://schemas.microsoft.com/office/drawing/2014/main" val="3032634955"/>
                    </a:ext>
                  </a:extLst>
                </a:gridCol>
                <a:gridCol w="344129">
                  <a:extLst>
                    <a:ext uri="{9D8B030D-6E8A-4147-A177-3AD203B41FA5}">
                      <a16:colId xmlns:a16="http://schemas.microsoft.com/office/drawing/2014/main" val="999213998"/>
                    </a:ext>
                  </a:extLst>
                </a:gridCol>
                <a:gridCol w="344129">
                  <a:extLst>
                    <a:ext uri="{9D8B030D-6E8A-4147-A177-3AD203B41FA5}">
                      <a16:colId xmlns:a16="http://schemas.microsoft.com/office/drawing/2014/main" val="39879636"/>
                    </a:ext>
                  </a:extLst>
                </a:gridCol>
              </a:tblGrid>
              <a:tr h="55517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Peter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141340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Paul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358034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James, the Brother of Jesus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670439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John, son of Zebedee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8679175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Thomas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9024941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Andrew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478354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James, son of Zebedee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B9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24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3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E65F8-F134-5F07-18D8-170BBBD7A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77D8E1-CFC8-5383-E359-920176BAD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964968"/>
              </p:ext>
            </p:extLst>
          </p:nvPr>
        </p:nvGraphicFramePr>
        <p:xfrm>
          <a:off x="6177118" y="1676402"/>
          <a:ext cx="2890682" cy="3962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0682">
                  <a:extLst>
                    <a:ext uri="{9D8B030D-6E8A-4147-A177-3AD203B41FA5}">
                      <a16:colId xmlns:a16="http://schemas.microsoft.com/office/drawing/2014/main" val="3256627010"/>
                    </a:ext>
                  </a:extLst>
                </a:gridCol>
              </a:tblGrid>
              <a:tr h="56605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strike="noStrike" dirty="0">
                          <a:effectLst/>
                        </a:rPr>
                        <a:t>James, son of Alphaeus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4141340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dirty="0">
                          <a:effectLst/>
                        </a:rPr>
                        <a:t>Thaddeus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5358034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strike="noStrike" dirty="0">
                          <a:effectLst/>
                        </a:rPr>
                        <a:t>Simon the Zealot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9670439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dirty="0">
                          <a:effectLst/>
                        </a:rPr>
                        <a:t>Matthias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8679175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dirty="0">
                          <a:effectLst/>
                        </a:rPr>
                        <a:t>Philip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9024941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dirty="0">
                          <a:effectLst/>
                        </a:rPr>
                        <a:t>Matthew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478354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dirty="0">
                          <a:effectLst/>
                        </a:rPr>
                        <a:t>John, son of Zebedee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122471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2CC2FA6-39B1-6018-B6EE-09702343ED27}"/>
              </a:ext>
            </a:extLst>
          </p:cNvPr>
          <p:cNvSpPr txBox="1"/>
          <p:nvPr/>
        </p:nvSpPr>
        <p:spPr>
          <a:xfrm>
            <a:off x="156521" y="255595"/>
            <a:ext cx="75307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Which Apostles were martyred?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C18111-D7C3-4D6A-2AC7-957C14835AE8}"/>
              </a:ext>
            </a:extLst>
          </p:cNvPr>
          <p:cNvSpPr txBox="1"/>
          <p:nvPr/>
        </p:nvSpPr>
        <p:spPr>
          <a:xfrm>
            <a:off x="304800" y="6966563"/>
            <a:ext cx="6096000" cy="102842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119063" indent="-1190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Source: “The Fate of the Apostles” by Josh McDowell</a:t>
            </a:r>
          </a:p>
          <a:p>
            <a:pPr marL="119063" indent="-1190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To be considered martyred, the person be killed </a:t>
            </a:r>
            <a:r>
              <a:rPr lang="en-US" sz="1400" i="1" dirty="0"/>
              <a:t>due to being a Christian</a:t>
            </a:r>
          </a:p>
          <a:p>
            <a:pPr marL="119063" indent="-1190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This list includes those that are not specifically part of the Twelve (like James)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4B95C4E-A604-DF12-87EE-0B6211FF8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166501"/>
              </p:ext>
            </p:extLst>
          </p:nvPr>
        </p:nvGraphicFramePr>
        <p:xfrm>
          <a:off x="919318" y="1676403"/>
          <a:ext cx="2890682" cy="3962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0682">
                  <a:extLst>
                    <a:ext uri="{9D8B030D-6E8A-4147-A177-3AD203B41FA5}">
                      <a16:colId xmlns:a16="http://schemas.microsoft.com/office/drawing/2014/main" val="3256627010"/>
                    </a:ext>
                  </a:extLst>
                </a:gridCol>
              </a:tblGrid>
              <a:tr h="566057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Peter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4141340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Paul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5358034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James, the Brother of Jesus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9670439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James, son of Zebedee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8679175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Thomas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9024941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Andrew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478354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Bartholomew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1224716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D7A59F36-458D-D9BC-B1E8-E1178029C3C0}"/>
              </a:ext>
            </a:extLst>
          </p:cNvPr>
          <p:cNvGrpSpPr/>
          <p:nvPr/>
        </p:nvGrpSpPr>
        <p:grpSpPr>
          <a:xfrm>
            <a:off x="447708" y="1752600"/>
            <a:ext cx="381000" cy="3802205"/>
            <a:chOff x="3159197" y="1752600"/>
            <a:chExt cx="381000" cy="38022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598353A-FC8A-7779-C49A-1C6370E3B214}"/>
                </a:ext>
              </a:extLst>
            </p:cNvPr>
            <p:cNvGrpSpPr/>
            <p:nvPr/>
          </p:nvGrpSpPr>
          <p:grpSpPr>
            <a:xfrm>
              <a:off x="3159197" y="4038600"/>
              <a:ext cx="381000" cy="381000"/>
              <a:chOff x="4038600" y="1524000"/>
              <a:chExt cx="381000" cy="381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A0F1A35-C52E-A6DD-BD9E-A6EE206550C0}"/>
                  </a:ext>
                </a:extLst>
              </p:cNvPr>
              <p:cNvSpPr/>
              <p:nvPr/>
            </p:nvSpPr>
            <p:spPr>
              <a:xfrm>
                <a:off x="4038600" y="1524000"/>
                <a:ext cx="381000" cy="381000"/>
              </a:xfrm>
              <a:prstGeom prst="ellipse">
                <a:avLst/>
              </a:prstGeom>
              <a:solidFill>
                <a:srgbClr val="01B902"/>
              </a:solidFill>
              <a:ln>
                <a:solidFill>
                  <a:srgbClr val="01B90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  <p:sp>
            <p:nvSpPr>
              <p:cNvPr id="3" name="Pie 2">
                <a:extLst>
                  <a:ext uri="{FF2B5EF4-FFF2-40B4-BE49-F238E27FC236}">
                    <a16:creationId xmlns:a16="http://schemas.microsoft.com/office/drawing/2014/main" id="{F4DCDEA1-5B55-0A08-E787-BDDC592E0CF5}"/>
                  </a:ext>
                </a:extLst>
              </p:cNvPr>
              <p:cNvSpPr/>
              <p:nvPr/>
            </p:nvSpPr>
            <p:spPr>
              <a:xfrm rot="16200000">
                <a:off x="4038600" y="1524000"/>
                <a:ext cx="381000" cy="381000"/>
              </a:xfrm>
              <a:prstGeom prst="pie">
                <a:avLst>
                  <a:gd name="adj1" fmla="val 0"/>
                  <a:gd name="adj2" fmla="val 10785185"/>
                </a:avLst>
              </a:prstGeom>
              <a:solidFill>
                <a:schemeClr val="bg1"/>
              </a:solidFill>
              <a:ln>
                <a:solidFill>
                  <a:srgbClr val="01B90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01C2DB7-6BEB-5A2A-DF74-99839980FC0E}"/>
                </a:ext>
              </a:extLst>
            </p:cNvPr>
            <p:cNvSpPr/>
            <p:nvPr/>
          </p:nvSpPr>
          <p:spPr>
            <a:xfrm>
              <a:off x="3159197" y="1752600"/>
              <a:ext cx="381000" cy="381000"/>
            </a:xfrm>
            <a:prstGeom prst="ellipse">
              <a:avLst/>
            </a:prstGeom>
            <a:solidFill>
              <a:srgbClr val="01B902"/>
            </a:solidFill>
            <a:ln>
              <a:solidFill>
                <a:srgbClr val="01B9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DEEE51A-9F7D-47FC-C4FE-AFBD26C2C0E9}"/>
                </a:ext>
              </a:extLst>
            </p:cNvPr>
            <p:cNvSpPr/>
            <p:nvPr/>
          </p:nvSpPr>
          <p:spPr>
            <a:xfrm>
              <a:off x="3159197" y="3463436"/>
              <a:ext cx="381000" cy="381000"/>
            </a:xfrm>
            <a:prstGeom prst="ellipse">
              <a:avLst/>
            </a:prstGeom>
            <a:solidFill>
              <a:srgbClr val="00B902"/>
            </a:solidFill>
            <a:ln>
              <a:solidFill>
                <a:srgbClr val="00B9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85BEE25-523F-5AAE-199E-DF40D60154AA}"/>
                </a:ext>
              </a:extLst>
            </p:cNvPr>
            <p:cNvSpPr/>
            <p:nvPr/>
          </p:nvSpPr>
          <p:spPr>
            <a:xfrm>
              <a:off x="3159197" y="2328231"/>
              <a:ext cx="381000" cy="381000"/>
            </a:xfrm>
            <a:prstGeom prst="ellipse">
              <a:avLst/>
            </a:prstGeom>
            <a:solidFill>
              <a:srgbClr val="01B902"/>
            </a:solidFill>
            <a:ln>
              <a:solidFill>
                <a:srgbClr val="01B9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64E904D-0248-AF39-EECA-73FC01BC9D76}"/>
                </a:ext>
              </a:extLst>
            </p:cNvPr>
            <p:cNvSpPr/>
            <p:nvPr/>
          </p:nvSpPr>
          <p:spPr>
            <a:xfrm>
              <a:off x="3159197" y="2896076"/>
              <a:ext cx="381000" cy="381000"/>
            </a:xfrm>
            <a:prstGeom prst="ellipse">
              <a:avLst/>
            </a:prstGeom>
            <a:solidFill>
              <a:srgbClr val="01B902"/>
            </a:solidFill>
            <a:ln>
              <a:solidFill>
                <a:srgbClr val="01B9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08FC9C9-B227-5105-507B-59713DB9FAE9}"/>
                </a:ext>
              </a:extLst>
            </p:cNvPr>
            <p:cNvGrpSpPr/>
            <p:nvPr/>
          </p:nvGrpSpPr>
          <p:grpSpPr>
            <a:xfrm>
              <a:off x="3159197" y="4613764"/>
              <a:ext cx="381000" cy="381000"/>
              <a:chOff x="4038600" y="1524000"/>
              <a:chExt cx="381000" cy="381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7AA7C32-AD5A-9BD3-9045-24197A9D46CA}"/>
                  </a:ext>
                </a:extLst>
              </p:cNvPr>
              <p:cNvSpPr/>
              <p:nvPr/>
            </p:nvSpPr>
            <p:spPr>
              <a:xfrm>
                <a:off x="4038600" y="1524000"/>
                <a:ext cx="381000" cy="381000"/>
              </a:xfrm>
              <a:prstGeom prst="ellipse">
                <a:avLst/>
              </a:prstGeom>
              <a:solidFill>
                <a:srgbClr val="01B902"/>
              </a:solidFill>
              <a:ln>
                <a:solidFill>
                  <a:srgbClr val="01B90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  <p:sp>
            <p:nvSpPr>
              <p:cNvPr id="26" name="Pie 25">
                <a:extLst>
                  <a:ext uri="{FF2B5EF4-FFF2-40B4-BE49-F238E27FC236}">
                    <a16:creationId xmlns:a16="http://schemas.microsoft.com/office/drawing/2014/main" id="{64736786-2393-38D4-1A74-438E4682C62D}"/>
                  </a:ext>
                </a:extLst>
              </p:cNvPr>
              <p:cNvSpPr/>
              <p:nvPr/>
            </p:nvSpPr>
            <p:spPr>
              <a:xfrm rot="16200000">
                <a:off x="4038600" y="1524000"/>
                <a:ext cx="381000" cy="381000"/>
              </a:xfrm>
              <a:prstGeom prst="pie">
                <a:avLst>
                  <a:gd name="adj1" fmla="val 0"/>
                  <a:gd name="adj2" fmla="val 10785185"/>
                </a:avLst>
              </a:prstGeom>
              <a:solidFill>
                <a:schemeClr val="bg1"/>
              </a:solidFill>
              <a:ln>
                <a:solidFill>
                  <a:srgbClr val="01B90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5107AB1-B581-623F-0512-025BDFA78292}"/>
                </a:ext>
              </a:extLst>
            </p:cNvPr>
            <p:cNvSpPr/>
            <p:nvPr/>
          </p:nvSpPr>
          <p:spPr>
            <a:xfrm>
              <a:off x="3159197" y="5173805"/>
              <a:ext cx="381000" cy="3810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F10D3A1-D095-9C83-AA58-6E99129AE63C}"/>
              </a:ext>
            </a:extLst>
          </p:cNvPr>
          <p:cNvGrpSpPr/>
          <p:nvPr/>
        </p:nvGrpSpPr>
        <p:grpSpPr>
          <a:xfrm>
            <a:off x="5705508" y="1752600"/>
            <a:ext cx="390492" cy="3804262"/>
            <a:chOff x="5705508" y="1752600"/>
            <a:chExt cx="390492" cy="380426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07AC00B-79C0-9415-A09C-06049DC4DAA2}"/>
                </a:ext>
              </a:extLst>
            </p:cNvPr>
            <p:cNvSpPr/>
            <p:nvPr/>
          </p:nvSpPr>
          <p:spPr>
            <a:xfrm>
              <a:off x="5715000" y="1752600"/>
              <a:ext cx="381000" cy="3810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9615CD9-37BA-0DCA-8D95-DA9617D48BEB}"/>
                </a:ext>
              </a:extLst>
            </p:cNvPr>
            <p:cNvSpPr/>
            <p:nvPr/>
          </p:nvSpPr>
          <p:spPr>
            <a:xfrm>
              <a:off x="5715000" y="2324100"/>
              <a:ext cx="381000" cy="3810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1D0D3B6-6CD3-D81E-2B7E-A5AA6A820CDD}"/>
                </a:ext>
              </a:extLst>
            </p:cNvPr>
            <p:cNvSpPr/>
            <p:nvPr/>
          </p:nvSpPr>
          <p:spPr>
            <a:xfrm>
              <a:off x="5715000" y="2895600"/>
              <a:ext cx="381000" cy="3810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44820A6-F6A5-7127-1E99-2AFA3218EBE3}"/>
                </a:ext>
              </a:extLst>
            </p:cNvPr>
            <p:cNvSpPr/>
            <p:nvPr/>
          </p:nvSpPr>
          <p:spPr>
            <a:xfrm>
              <a:off x="5715000" y="3467100"/>
              <a:ext cx="381000" cy="3810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4B08C48-C4CF-4033-17CF-C39E314BECC9}"/>
                </a:ext>
              </a:extLst>
            </p:cNvPr>
            <p:cNvSpPr/>
            <p:nvPr/>
          </p:nvSpPr>
          <p:spPr>
            <a:xfrm>
              <a:off x="5705508" y="4610100"/>
              <a:ext cx="381000" cy="381000"/>
            </a:xfrm>
            <a:prstGeom prst="ellipse">
              <a:avLst/>
            </a:prstGeom>
            <a:solidFill>
              <a:srgbClr val="F80100"/>
            </a:solidFill>
            <a:ln>
              <a:solidFill>
                <a:srgbClr val="F801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E25273E-2946-3BB9-C458-80AD74DFADC8}"/>
                </a:ext>
              </a:extLst>
            </p:cNvPr>
            <p:cNvSpPr/>
            <p:nvPr/>
          </p:nvSpPr>
          <p:spPr>
            <a:xfrm>
              <a:off x="5715000" y="5175862"/>
              <a:ext cx="381000" cy="381000"/>
            </a:xfrm>
            <a:prstGeom prst="ellipse">
              <a:avLst/>
            </a:prstGeom>
            <a:solidFill>
              <a:srgbClr val="F80100"/>
            </a:solidFill>
            <a:ln>
              <a:solidFill>
                <a:srgbClr val="F801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609C935-FF64-A7B0-E791-57751E7FB096}"/>
                </a:ext>
              </a:extLst>
            </p:cNvPr>
            <p:cNvSpPr/>
            <p:nvPr/>
          </p:nvSpPr>
          <p:spPr>
            <a:xfrm>
              <a:off x="5715000" y="4039195"/>
              <a:ext cx="381000" cy="3810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6885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AF91C0-9E92-7C42-9970-EBF82F6CF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894551"/>
              </p:ext>
            </p:extLst>
          </p:nvPr>
        </p:nvGraphicFramePr>
        <p:xfrm>
          <a:off x="209550" y="152400"/>
          <a:ext cx="8724900" cy="6313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3623029985"/>
                    </a:ext>
                  </a:extLst>
                </a:gridCol>
                <a:gridCol w="3097700">
                  <a:extLst>
                    <a:ext uri="{9D8B030D-6E8A-4147-A177-3AD203B41FA5}">
                      <a16:colId xmlns:a16="http://schemas.microsoft.com/office/drawing/2014/main" val="4294323797"/>
                    </a:ext>
                  </a:extLst>
                </a:gridCol>
                <a:gridCol w="3779350">
                  <a:extLst>
                    <a:ext uri="{9D8B030D-6E8A-4147-A177-3AD203B41FA5}">
                      <a16:colId xmlns:a16="http://schemas.microsoft.com/office/drawing/2014/main" val="7368395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/>
                        <a:t>Peter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73894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Death</a:t>
                      </a: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Likely by crucifixion, probably by Nero</a:t>
                      </a: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92000535"/>
                  </a:ext>
                </a:extLst>
              </a:tr>
              <a:tr h="444393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Confidence</a:t>
                      </a: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12700" indent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Highest possible confidence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12700" indent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30484482"/>
                  </a:ext>
                </a:extLst>
              </a:tr>
              <a:tr h="1130798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Sources</a:t>
                      </a: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C10102"/>
                          </a:highlight>
                          <a:latin typeface="+mj-lt"/>
                        </a:rPr>
                        <a:t>John 21:18–19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Clement 5:4–5</a:t>
                      </a:r>
                    </a:p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Ignatius</a:t>
                      </a:r>
                    </a:p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Tertullian</a:t>
                      </a:r>
                    </a:p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Dionysius of Corinth</a:t>
                      </a:r>
                    </a:p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Apocryphon of James*</a:t>
                      </a:r>
                    </a:p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Ascension of Isaiah*</a:t>
                      </a:r>
                    </a:p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Acts of Peter*</a:t>
                      </a:r>
                    </a:p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Apocalypse of Peter*</a:t>
                      </a:r>
                    </a:p>
                  </a:txBody>
                  <a:tcPr marR="0" marT="182880" marB="18288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4031315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0" marB="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competing traditions</a:t>
                      </a:r>
                    </a:p>
                  </a:txBody>
                  <a:tcPr marL="182880" marR="182880" marT="0" marB="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i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1470353"/>
                  </a:ext>
                </a:extLst>
              </a:tr>
              <a:tr h="432699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Other Details</a:t>
                      </a: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231775" indent="-231775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Likely visited Rome</a:t>
                      </a:r>
                    </a:p>
                    <a:p>
                      <a:pPr marL="231775" indent="-231775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Possibly crucified upside down</a:t>
                      </a: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231775" indent="-231775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17765727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2E55A022-81F9-374B-B08B-69AC6D5047D5}"/>
              </a:ext>
            </a:extLst>
          </p:cNvPr>
          <p:cNvSpPr/>
          <p:nvPr/>
        </p:nvSpPr>
        <p:spPr>
          <a:xfrm>
            <a:off x="5867400" y="2091690"/>
            <a:ext cx="381000" cy="381000"/>
          </a:xfrm>
          <a:prstGeom prst="ellipse">
            <a:avLst/>
          </a:prstGeom>
          <a:solidFill>
            <a:srgbClr val="01B902"/>
          </a:solidFill>
          <a:ln>
            <a:solidFill>
              <a:srgbClr val="01B9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C122AC-8CF2-C240-AD9D-1F4542056535}"/>
              </a:ext>
            </a:extLst>
          </p:cNvPr>
          <p:cNvSpPr txBox="1"/>
          <p:nvPr/>
        </p:nvSpPr>
        <p:spPr>
          <a:xfrm>
            <a:off x="3810000" y="6403265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  <a:t>﻿* pseudepigraphal (authorship falsely attributed)</a:t>
            </a:r>
          </a:p>
        </p:txBody>
      </p:sp>
    </p:spTree>
    <p:extLst>
      <p:ext uri="{BB962C8B-B14F-4D97-AF65-F5344CB8AC3E}">
        <p14:creationId xmlns:p14="http://schemas.microsoft.com/office/powerpoint/2010/main" val="1744859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392D1-A4F5-744A-9239-99BC6612F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686800" cy="3962400"/>
          </a:xfrm>
        </p:spPr>
        <p:txBody>
          <a:bodyPr anchor="b" anchorCtr="0">
            <a:normAutofit/>
          </a:bodyPr>
          <a:lstStyle/>
          <a:p>
            <a:pPr>
              <a:tabLst>
                <a:tab pos="91440" algn="l"/>
              </a:tabLst>
            </a:pPr>
            <a:r>
              <a:rPr lang="en-US" dirty="0"/>
              <a:t>“Jesus said this to indicate the kind of </a:t>
            </a:r>
            <a:r>
              <a:rPr lang="en-US" b="1" dirty="0">
                <a:highlight>
                  <a:srgbClr val="C10102"/>
                </a:highlight>
              </a:rPr>
              <a:t>death by which Peter would glorify God</a:t>
            </a:r>
            <a:r>
              <a:rPr lang="en-US" dirty="0"/>
              <a:t>. Then he said to him, ’Follow me!’”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591E0-89A3-7048-B1C5-91B4FFFB65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00" y="4495800"/>
            <a:ext cx="8915400" cy="1371600"/>
          </a:xfrm>
        </p:spPr>
        <p:txBody>
          <a:bodyPr>
            <a:normAutofit/>
          </a:bodyPr>
          <a:lstStyle/>
          <a:p>
            <a:pPr algn="l"/>
            <a:r>
              <a:rPr lang="en-US" sz="4400" cap="all" dirty="0">
                <a:solidFill>
                  <a:srgbClr val="009EC0"/>
                </a:solidFill>
              </a:rPr>
              <a:t>John 21:19</a:t>
            </a:r>
            <a:endParaRPr lang="en-US" sz="4400" b="0" i="1" dirty="0">
              <a:solidFill>
                <a:srgbClr val="009E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61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AF91C0-9E92-7C42-9970-EBF82F6CF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263964"/>
              </p:ext>
            </p:extLst>
          </p:nvPr>
        </p:nvGraphicFramePr>
        <p:xfrm>
          <a:off x="209550" y="152400"/>
          <a:ext cx="8724900" cy="5741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3623029985"/>
                    </a:ext>
                  </a:extLst>
                </a:gridCol>
                <a:gridCol w="3097700">
                  <a:extLst>
                    <a:ext uri="{9D8B030D-6E8A-4147-A177-3AD203B41FA5}">
                      <a16:colId xmlns:a16="http://schemas.microsoft.com/office/drawing/2014/main" val="4294323797"/>
                    </a:ext>
                  </a:extLst>
                </a:gridCol>
                <a:gridCol w="3779350">
                  <a:extLst>
                    <a:ext uri="{9D8B030D-6E8A-4147-A177-3AD203B41FA5}">
                      <a16:colId xmlns:a16="http://schemas.microsoft.com/office/drawing/2014/main" val="7368395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/>
                        <a:t>Paul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73894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Death</a:t>
                      </a: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Beheading by Nero, AD 62-68</a:t>
                      </a: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92000535"/>
                  </a:ext>
                </a:extLst>
              </a:tr>
              <a:tr h="444393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Confidence</a:t>
                      </a: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12700" indent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Highest possible confidence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12700" indent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30484482"/>
                  </a:ext>
                </a:extLst>
              </a:tr>
              <a:tr h="1130798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Sources</a:t>
                      </a: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C10102"/>
                          </a:highlight>
                          <a:latin typeface="+mj-lt"/>
                        </a:rPr>
                        <a:t>2 Tim 4:6-8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C10102"/>
                          </a:highlight>
                          <a:latin typeface="+mj-lt"/>
                        </a:rPr>
                        <a:t>Acts 19:21-28:31</a:t>
                      </a:r>
                    </a:p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Clement</a:t>
                      </a:r>
                    </a:p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Ignatius</a:t>
                      </a:r>
                    </a:p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Dionysius of Corinth</a:t>
                      </a:r>
                    </a:p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Irenaeus</a:t>
                      </a:r>
                    </a:p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Tertullian</a:t>
                      </a:r>
                    </a:p>
                  </a:txBody>
                  <a:tcPr marR="0" marT="182880" marB="18288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4031315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0" marB="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competing traditions</a:t>
                      </a:r>
                    </a:p>
                  </a:txBody>
                  <a:tcPr marL="182880" marR="182880" marT="0" marB="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i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1470353"/>
                  </a:ext>
                </a:extLst>
              </a:tr>
              <a:tr h="432699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Other Details</a:t>
                      </a: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231775" indent="-231775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Highly likely to have visited Rome</a:t>
                      </a: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231775" indent="-231775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17765727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2E55A022-81F9-374B-B08B-69AC6D5047D5}"/>
              </a:ext>
            </a:extLst>
          </p:cNvPr>
          <p:cNvSpPr/>
          <p:nvPr/>
        </p:nvSpPr>
        <p:spPr>
          <a:xfrm>
            <a:off x="5867400" y="2091690"/>
            <a:ext cx="381000" cy="381000"/>
          </a:xfrm>
          <a:prstGeom prst="ellipse">
            <a:avLst/>
          </a:prstGeom>
          <a:solidFill>
            <a:srgbClr val="01B902"/>
          </a:solidFill>
          <a:ln>
            <a:solidFill>
              <a:srgbClr val="01B9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05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AF91C0-9E92-7C42-9970-EBF82F6CF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980713"/>
              </p:ext>
            </p:extLst>
          </p:nvPr>
        </p:nvGraphicFramePr>
        <p:xfrm>
          <a:off x="209550" y="152400"/>
          <a:ext cx="8724900" cy="5215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3623029985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4294323797"/>
                    </a:ext>
                  </a:extLst>
                </a:gridCol>
                <a:gridCol w="4210050">
                  <a:extLst>
                    <a:ext uri="{9D8B030D-6E8A-4147-A177-3AD203B41FA5}">
                      <a16:colId xmlns:a16="http://schemas.microsoft.com/office/drawing/2014/main" val="7368395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/>
                        <a:t>James (brother of Jesus)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73894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Death</a:t>
                      </a: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Stoning, 62 AD</a:t>
                      </a: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92000535"/>
                  </a:ext>
                </a:extLst>
              </a:tr>
              <a:tr h="444393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Confidence</a:t>
                      </a: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12700" indent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 probably true</a:t>
                      </a:r>
                      <a:endParaRPr lang="en-US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12700" indent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30484482"/>
                  </a:ext>
                </a:extLst>
              </a:tr>
              <a:tr h="1130798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Sources</a:t>
                      </a: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Josephus</a:t>
                      </a:r>
                    </a:p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Hegesippus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Clement of Alexandria</a:t>
                      </a:r>
                      <a:endParaRPr lang="en-US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 Apocalypse of James*</a:t>
                      </a:r>
                    </a:p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Second Apocalypse of James*</a:t>
                      </a:r>
                    </a:p>
                  </a:txBody>
                  <a:tcPr marR="0" marT="182880" marB="18288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4031315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0" marB="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competing traditions</a:t>
                      </a:r>
                    </a:p>
                  </a:txBody>
                  <a:tcPr marL="182880" marR="182880" marT="0" marB="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i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1470353"/>
                  </a:ext>
                </a:extLst>
              </a:tr>
              <a:tr h="432699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Other Details</a:t>
                      </a: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231775" indent="-231775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Thrown from the Temple</a:t>
                      </a: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231775" indent="-231775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17765727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2E55A022-81F9-374B-B08B-69AC6D5047D5}"/>
              </a:ext>
            </a:extLst>
          </p:cNvPr>
          <p:cNvSpPr/>
          <p:nvPr/>
        </p:nvSpPr>
        <p:spPr>
          <a:xfrm>
            <a:off x="4724400" y="2091690"/>
            <a:ext cx="381000" cy="381000"/>
          </a:xfrm>
          <a:prstGeom prst="ellipse">
            <a:avLst/>
          </a:prstGeom>
          <a:solidFill>
            <a:srgbClr val="01B902"/>
          </a:solidFill>
          <a:ln>
            <a:solidFill>
              <a:srgbClr val="01B9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C122AC-8CF2-C240-AD9D-1F4542056535}"/>
              </a:ext>
            </a:extLst>
          </p:cNvPr>
          <p:cNvSpPr txBox="1"/>
          <p:nvPr/>
        </p:nvSpPr>
        <p:spPr>
          <a:xfrm>
            <a:off x="3810000" y="6403265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  <a:t>﻿* pseudepigraphal (authorship falsely attributed)</a:t>
            </a:r>
          </a:p>
        </p:txBody>
      </p:sp>
    </p:spTree>
    <p:extLst>
      <p:ext uri="{BB962C8B-B14F-4D97-AF65-F5344CB8AC3E}">
        <p14:creationId xmlns:p14="http://schemas.microsoft.com/office/powerpoint/2010/main" val="2449456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AF91C0-9E92-7C42-9970-EBF82F6CF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346001"/>
              </p:ext>
            </p:extLst>
          </p:nvPr>
        </p:nvGraphicFramePr>
        <p:xfrm>
          <a:off x="209550" y="152400"/>
          <a:ext cx="8724900" cy="4850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3623029985"/>
                    </a:ext>
                  </a:extLst>
                </a:gridCol>
                <a:gridCol w="3097700">
                  <a:extLst>
                    <a:ext uri="{9D8B030D-6E8A-4147-A177-3AD203B41FA5}">
                      <a16:colId xmlns:a16="http://schemas.microsoft.com/office/drawing/2014/main" val="4294323797"/>
                    </a:ext>
                  </a:extLst>
                </a:gridCol>
                <a:gridCol w="3779350">
                  <a:extLst>
                    <a:ext uri="{9D8B030D-6E8A-4147-A177-3AD203B41FA5}">
                      <a16:colId xmlns:a16="http://schemas.microsoft.com/office/drawing/2014/main" val="7368395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/>
                        <a:t>James (son of Zebedee)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73894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Death</a:t>
                      </a: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Killed by Herod Agrippa I in Jerusalem</a:t>
                      </a: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92000535"/>
                  </a:ext>
                </a:extLst>
              </a:tr>
              <a:tr h="444393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Confidence</a:t>
                      </a: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12700" indent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Highest possible confidence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12700" indent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30484482"/>
                  </a:ext>
                </a:extLst>
              </a:tr>
              <a:tr h="1130798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Sources</a:t>
                      </a: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C10102"/>
                          </a:highlight>
                          <a:latin typeface="+mn-lt"/>
                          <a:ea typeface="+mn-ea"/>
                          <a:cs typeface="+mn-cs"/>
                        </a:rPr>
                        <a:t>Acts 12:1-2</a:t>
                      </a:r>
                    </a:p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Papias</a:t>
                      </a:r>
                    </a:p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Clement of Alexandria</a:t>
                      </a:r>
                    </a:p>
                  </a:txBody>
                  <a:tcPr marL="182880" marR="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Chrysostom</a:t>
                      </a:r>
                    </a:p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Gregory of Nyssa</a:t>
                      </a:r>
                    </a:p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Philip of Side</a:t>
                      </a:r>
                    </a:p>
                  </a:txBody>
                  <a:tcPr marR="0" marT="182880" marB="18288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4031315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0" marB="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competing traditions</a:t>
                      </a:r>
                    </a:p>
                  </a:txBody>
                  <a:tcPr marL="182880" marR="182880" marT="0" marB="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i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1470353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2E55A022-81F9-374B-B08B-69AC6D5047D5}"/>
              </a:ext>
            </a:extLst>
          </p:cNvPr>
          <p:cNvSpPr/>
          <p:nvPr/>
        </p:nvSpPr>
        <p:spPr>
          <a:xfrm>
            <a:off x="5867400" y="2091690"/>
            <a:ext cx="381000" cy="381000"/>
          </a:xfrm>
          <a:prstGeom prst="ellipse">
            <a:avLst/>
          </a:prstGeom>
          <a:solidFill>
            <a:srgbClr val="01B902"/>
          </a:solidFill>
          <a:ln>
            <a:solidFill>
              <a:srgbClr val="01B9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979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AF91C0-9E92-7C42-9970-EBF82F6CF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328498"/>
              </p:ext>
            </p:extLst>
          </p:nvPr>
        </p:nvGraphicFramePr>
        <p:xfrm>
          <a:off x="209550" y="152400"/>
          <a:ext cx="8724900" cy="5375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3623029985"/>
                    </a:ext>
                  </a:extLst>
                </a:gridCol>
                <a:gridCol w="6877050">
                  <a:extLst>
                    <a:ext uri="{9D8B030D-6E8A-4147-A177-3AD203B41FA5}">
                      <a16:colId xmlns:a16="http://schemas.microsoft.com/office/drawing/2014/main" val="4294323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/>
                        <a:t>Thomas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73894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Death</a:t>
                      </a: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Executed in India by King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Misdaeus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92000535"/>
                  </a:ext>
                </a:extLst>
              </a:tr>
              <a:tr h="444393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Confidence</a:t>
                      </a: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2700" indent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 probable than not</a:t>
                      </a:r>
                      <a:endParaRPr lang="en-US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30484482"/>
                  </a:ext>
                </a:extLst>
              </a:tr>
              <a:tr h="1130798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Sources</a:t>
                      </a: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Early church fathers</a:t>
                      </a:r>
                    </a:p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St. Thomas Christians traditions</a:t>
                      </a:r>
                    </a:p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Acts of Thomas*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64031315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0" marB="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competing traditions</a:t>
                      </a:r>
                    </a:p>
                  </a:txBody>
                  <a:tcPr marL="182880" marR="182880" marT="0" marB="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1470353"/>
                  </a:ext>
                </a:extLst>
              </a:tr>
              <a:tr h="432699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Other Details</a:t>
                      </a: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31775" indent="-231775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Traveled to India (more probable than not)</a:t>
                      </a: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1776572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8C122AC-8CF2-C240-AD9D-1F4542056535}"/>
              </a:ext>
            </a:extLst>
          </p:cNvPr>
          <p:cNvSpPr txBox="1"/>
          <p:nvPr/>
        </p:nvSpPr>
        <p:spPr>
          <a:xfrm>
            <a:off x="3810000" y="6403265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  <a:t>﻿* apocrypha (not part of the New Testament)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A4015C6-B5CA-FB4A-A1CC-DBDE58092381}"/>
              </a:ext>
            </a:extLst>
          </p:cNvPr>
          <p:cNvGrpSpPr/>
          <p:nvPr/>
        </p:nvGrpSpPr>
        <p:grpSpPr>
          <a:xfrm>
            <a:off x="5410200" y="2133600"/>
            <a:ext cx="381000" cy="381000"/>
            <a:chOff x="5410200" y="2057400"/>
            <a:chExt cx="381000" cy="3810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BC21172-7587-E64F-A726-9AE21723F8B8}"/>
                </a:ext>
              </a:extLst>
            </p:cNvPr>
            <p:cNvSpPr/>
            <p:nvPr/>
          </p:nvSpPr>
          <p:spPr>
            <a:xfrm>
              <a:off x="5410200" y="2057400"/>
              <a:ext cx="381000" cy="381000"/>
            </a:xfrm>
            <a:prstGeom prst="ellipse">
              <a:avLst/>
            </a:prstGeom>
            <a:solidFill>
              <a:srgbClr val="01B902"/>
            </a:solidFill>
            <a:ln>
              <a:solidFill>
                <a:srgbClr val="01B9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9" name="Pie 8">
              <a:extLst>
                <a:ext uri="{FF2B5EF4-FFF2-40B4-BE49-F238E27FC236}">
                  <a16:creationId xmlns:a16="http://schemas.microsoft.com/office/drawing/2014/main" id="{4CB879B8-7309-D543-BF02-AED518A6C00B}"/>
                </a:ext>
              </a:extLst>
            </p:cNvPr>
            <p:cNvSpPr/>
            <p:nvPr/>
          </p:nvSpPr>
          <p:spPr>
            <a:xfrm rot="16200000">
              <a:off x="5410200" y="2057400"/>
              <a:ext cx="381000" cy="381000"/>
            </a:xfrm>
            <a:prstGeom prst="pie">
              <a:avLst>
                <a:gd name="adj1" fmla="val 0"/>
                <a:gd name="adj2" fmla="val 10785185"/>
              </a:avLst>
            </a:prstGeom>
            <a:solidFill>
              <a:schemeClr val="bg1"/>
            </a:solidFill>
            <a:ln>
              <a:solidFill>
                <a:srgbClr val="01B9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8093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AF91C0-9E92-7C42-9970-EBF82F6CF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74700"/>
              </p:ext>
            </p:extLst>
          </p:nvPr>
        </p:nvGraphicFramePr>
        <p:xfrm>
          <a:off x="209550" y="152400"/>
          <a:ext cx="8724900" cy="48836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3623029985"/>
                    </a:ext>
                  </a:extLst>
                </a:gridCol>
                <a:gridCol w="3097700">
                  <a:extLst>
                    <a:ext uri="{9D8B030D-6E8A-4147-A177-3AD203B41FA5}">
                      <a16:colId xmlns:a16="http://schemas.microsoft.com/office/drawing/2014/main" val="4294323797"/>
                    </a:ext>
                  </a:extLst>
                </a:gridCol>
                <a:gridCol w="3779350">
                  <a:extLst>
                    <a:ext uri="{9D8B030D-6E8A-4147-A177-3AD203B41FA5}">
                      <a16:colId xmlns:a16="http://schemas.microsoft.com/office/drawing/2014/main" val="7368395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/>
                        <a:t>Andrew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73894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Death</a:t>
                      </a: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Crucified in 65-69 AD</a:t>
                      </a: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92000535"/>
                  </a:ext>
                </a:extLst>
              </a:tr>
              <a:tr h="444393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Confidence</a:t>
                      </a: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12700" indent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 plausible than not</a:t>
                      </a:r>
                      <a:endParaRPr lang="en-US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12700" indent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30484482"/>
                  </a:ext>
                </a:extLst>
              </a:tr>
              <a:tr h="1130798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Sources</a:t>
                      </a: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Peter Chrysologus</a:t>
                      </a:r>
                    </a:p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Acts of Andrew*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Traditions in the East and West</a:t>
                      </a:r>
                    </a:p>
                  </a:txBody>
                  <a:tcPr marR="0" marT="182880" marB="18288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4031315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0" marB="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competing traditions</a:t>
                      </a:r>
                    </a:p>
                  </a:txBody>
                  <a:tcPr marL="182880" marR="182880" marT="0" marB="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i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1470353"/>
                  </a:ext>
                </a:extLst>
              </a:tr>
              <a:tr h="432699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Other Details</a:t>
                      </a: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231775" indent="-231775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Traveled to Greece (more probable than not)</a:t>
                      </a: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231775" indent="-231775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1776572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8C122AC-8CF2-C240-AD9D-1F4542056535}"/>
              </a:ext>
            </a:extLst>
          </p:cNvPr>
          <p:cNvSpPr txBox="1"/>
          <p:nvPr/>
        </p:nvSpPr>
        <p:spPr>
          <a:xfrm>
            <a:off x="3810000" y="6403265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  <a:t>﻿* apocrypha (not part of the New Testament)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49C0B5-65B9-7342-920F-A30080A5840E}"/>
              </a:ext>
            </a:extLst>
          </p:cNvPr>
          <p:cNvGrpSpPr/>
          <p:nvPr/>
        </p:nvGrpSpPr>
        <p:grpSpPr>
          <a:xfrm>
            <a:off x="5410200" y="2133600"/>
            <a:ext cx="381000" cy="381000"/>
            <a:chOff x="6019800" y="2057400"/>
            <a:chExt cx="381000" cy="381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986C385-5861-0A40-A701-0F74CA596C42}"/>
                </a:ext>
              </a:extLst>
            </p:cNvPr>
            <p:cNvSpPr/>
            <p:nvPr/>
          </p:nvSpPr>
          <p:spPr>
            <a:xfrm>
              <a:off x="6019800" y="2057400"/>
              <a:ext cx="381000" cy="381000"/>
            </a:xfrm>
            <a:prstGeom prst="ellipse">
              <a:avLst/>
            </a:prstGeom>
            <a:solidFill>
              <a:srgbClr val="01B902"/>
            </a:solidFill>
            <a:ln>
              <a:solidFill>
                <a:srgbClr val="01B9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8" name="Pie 7">
              <a:extLst>
                <a:ext uri="{FF2B5EF4-FFF2-40B4-BE49-F238E27FC236}">
                  <a16:creationId xmlns:a16="http://schemas.microsoft.com/office/drawing/2014/main" id="{574876E3-AA5B-9E41-9149-D7978674D218}"/>
                </a:ext>
              </a:extLst>
            </p:cNvPr>
            <p:cNvSpPr/>
            <p:nvPr/>
          </p:nvSpPr>
          <p:spPr>
            <a:xfrm rot="16200000">
              <a:off x="6019800" y="2057400"/>
              <a:ext cx="381000" cy="381000"/>
            </a:xfrm>
            <a:prstGeom prst="pie">
              <a:avLst>
                <a:gd name="adj1" fmla="val 0"/>
                <a:gd name="adj2" fmla="val 10785185"/>
              </a:avLst>
            </a:prstGeom>
            <a:solidFill>
              <a:schemeClr val="bg1"/>
            </a:solidFill>
            <a:ln>
              <a:solidFill>
                <a:srgbClr val="01B9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4982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AF91C0-9E92-7C42-9970-EBF82F6CF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225390"/>
              </p:ext>
            </p:extLst>
          </p:nvPr>
        </p:nvGraphicFramePr>
        <p:xfrm>
          <a:off x="209550" y="152400"/>
          <a:ext cx="8724900" cy="485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3623029985"/>
                    </a:ext>
                  </a:extLst>
                </a:gridCol>
                <a:gridCol w="3097700">
                  <a:extLst>
                    <a:ext uri="{9D8B030D-6E8A-4147-A177-3AD203B41FA5}">
                      <a16:colId xmlns:a16="http://schemas.microsoft.com/office/drawing/2014/main" val="4294323797"/>
                    </a:ext>
                  </a:extLst>
                </a:gridCol>
                <a:gridCol w="3779350">
                  <a:extLst>
                    <a:ext uri="{9D8B030D-6E8A-4147-A177-3AD203B41FA5}">
                      <a16:colId xmlns:a16="http://schemas.microsoft.com/office/drawing/2014/main" val="7368395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/>
                        <a:t>John (son of Zebedee)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73894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Death</a:t>
                      </a: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Not likely by martyrdom</a:t>
                      </a: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92000535"/>
                  </a:ext>
                </a:extLst>
              </a:tr>
              <a:tr h="444393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Confidence</a:t>
                      </a:r>
                      <a:endParaRPr lang="en-US" sz="2400" b="0" dirty="0">
                        <a:solidFill>
                          <a:srgbClr val="009EC0"/>
                        </a:solidFill>
                        <a:effectLst/>
                        <a:latin typeface="+mj-lt"/>
                      </a:endParaRP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12700" indent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Improbably by martyrdom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12700" indent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30484482"/>
                  </a:ext>
                </a:extLst>
              </a:tr>
              <a:tr h="1130798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Sources</a:t>
                      </a: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C10102"/>
                          </a:highlight>
                          <a:latin typeface="+mn-lt"/>
                          <a:ea typeface="+mn-ea"/>
                          <a:cs typeface="+mn-cs"/>
                        </a:rPr>
                        <a:t>John 21:18–19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Origen</a:t>
                      </a:r>
                    </a:p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Tertullian</a:t>
                      </a:r>
                    </a:p>
                    <a:p>
                      <a:pPr marL="177800" indent="-1778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182880" marB="18288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4031315"/>
                  </a:ext>
                </a:extLst>
              </a:tr>
              <a:tr h="432699"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rgbClr val="009EC0"/>
                          </a:solidFill>
                          <a:effectLst/>
                          <a:latin typeface="+mj-lt"/>
                        </a:rPr>
                        <a:t>Other Details</a:t>
                      </a:r>
                    </a:p>
                  </a:txBody>
                  <a:tcPr marL="0" marR="182880" marT="182880" marB="182880">
                    <a:lnR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231775" indent="-231775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Likely ministered in Ephesus</a:t>
                      </a: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231775" indent="-231775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182880" marB="182880">
                    <a:lnL w="31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1776572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8C122AC-8CF2-C240-AD9D-1F4542056535}"/>
              </a:ext>
            </a:extLst>
          </p:cNvPr>
          <p:cNvSpPr txBox="1"/>
          <p:nvPr/>
        </p:nvSpPr>
        <p:spPr>
          <a:xfrm>
            <a:off x="2743200" y="6403265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  <a:t>﻿* probably pseudepigraphal (authorship falsely attributed)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6ABA8AB-33F5-D34B-91B1-B0B20B219E96}"/>
              </a:ext>
            </a:extLst>
          </p:cNvPr>
          <p:cNvSpPr/>
          <p:nvPr/>
        </p:nvSpPr>
        <p:spPr>
          <a:xfrm>
            <a:off x="5715000" y="2133600"/>
            <a:ext cx="381000" cy="381000"/>
          </a:xfrm>
          <a:prstGeom prst="ellipse">
            <a:avLst/>
          </a:prstGeom>
          <a:solidFill>
            <a:srgbClr val="C10102"/>
          </a:solidFill>
          <a:ln>
            <a:solidFill>
              <a:srgbClr val="C101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192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7F3A231B-5D70-D046-B1D4-165C06312D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125"/>
          <a:stretch/>
        </p:blipFill>
        <p:spPr bwMode="auto">
          <a:xfrm>
            <a:off x="2514600" y="0"/>
            <a:ext cx="69342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930AA5-728D-884D-A826-4D923E871B31}"/>
              </a:ext>
            </a:extLst>
          </p:cNvPr>
          <p:cNvSpPr/>
          <p:nvPr/>
        </p:nvSpPr>
        <p:spPr>
          <a:xfrm>
            <a:off x="0" y="0"/>
            <a:ext cx="6019800" cy="6858000"/>
          </a:xfrm>
          <a:prstGeom prst="rect">
            <a:avLst/>
          </a:prstGeom>
          <a:gradFill flip="none" rotWithShape="1">
            <a:gsLst>
              <a:gs pos="24000">
                <a:srgbClr val="000000"/>
              </a:gs>
              <a:gs pos="50000">
                <a:srgbClr val="000000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2819400"/>
            <a:ext cx="4903487" cy="22467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400000">
            <a:off x="2326988" y="2914599"/>
            <a:ext cx="49492" cy="3669094"/>
          </a:xfrm>
          <a:prstGeom prst="rect">
            <a:avLst/>
          </a:prstGeom>
          <a:solidFill>
            <a:srgbClr val="009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9096" y="1382085"/>
            <a:ext cx="37471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“﻿</a:t>
            </a:r>
            <a:r>
              <a:rPr lang="en-US" sz="3200" b="1" dirty="0">
                <a:highlight>
                  <a:srgbClr val="C10102"/>
                </a:highlight>
              </a:rPr>
              <a:t>not a shred</a:t>
            </a:r>
            <a:r>
              <a:rPr lang="en-US" sz="3200" dirty="0"/>
              <a:t> of evidence exists that any apostle wavered in or recanted his faith—excluding Judas.”</a:t>
            </a:r>
            <a:endParaRPr lang="en-US" sz="3200" dirty="0">
              <a:latin typeface="Avenir Book"/>
              <a:cs typeface="Avenir Book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6243" y="5045093"/>
            <a:ext cx="4952999" cy="14583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t"/>
          <a:lstStyle/>
          <a:p>
            <a:r>
              <a:rPr lang="en-US" sz="2000" b="1" dirty="0">
                <a:solidFill>
                  <a:schemeClr val="tx1"/>
                </a:solidFill>
              </a:rPr>
              <a:t>SEAN MCDOWELL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i="1" dirty="0">
                <a:solidFill>
                  <a:schemeClr val="tx1"/>
                </a:solidFill>
              </a:rPr>
              <a:t>The Fate of the Apostles (page 261)</a:t>
            </a:r>
          </a:p>
        </p:txBody>
      </p:sp>
    </p:spTree>
    <p:extLst>
      <p:ext uri="{BB962C8B-B14F-4D97-AF65-F5344CB8AC3E}">
        <p14:creationId xmlns:p14="http://schemas.microsoft.com/office/powerpoint/2010/main" val="30921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0" presetClass="path" presetSubtype="0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animMotion origin="layout" path="M 0.04236 -7.40741E-7 L -8.33333E-7 -7.40741E-7 " pathEditMode="relative" rAng="0" ptsTypes="AA">
                                      <p:cBhvr>
                                        <p:cTn id="19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0.0169 L 1.94444E-6 2.22222E-6 " pathEditMode="relative" rAng="0" ptsTypes="AA">
                                      <p:cBhvr>
                                        <p:cTn id="25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6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5" grpId="1"/>
      <p:bldP spid="7" grpId="0" animBg="1"/>
      <p:bldP spid="8" grpId="0"/>
      <p:bldP spid="8" grpId="1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7F3A231B-5D70-D046-B1D4-165C06312D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9" r="36719"/>
          <a:stretch/>
        </p:blipFill>
        <p:spPr bwMode="auto">
          <a:xfrm>
            <a:off x="2642616" y="10"/>
            <a:ext cx="650138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930AA5-728D-884D-A826-4D923E871B31}"/>
              </a:ext>
            </a:extLst>
          </p:cNvPr>
          <p:cNvSpPr/>
          <p:nvPr/>
        </p:nvSpPr>
        <p:spPr>
          <a:xfrm>
            <a:off x="0" y="0"/>
            <a:ext cx="6019800" cy="6858000"/>
          </a:xfrm>
          <a:prstGeom prst="rect">
            <a:avLst/>
          </a:prstGeom>
          <a:gradFill flip="none" rotWithShape="1">
            <a:gsLst>
              <a:gs pos="24000">
                <a:srgbClr val="000000"/>
              </a:gs>
              <a:gs pos="50000">
                <a:srgbClr val="000000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2819400"/>
            <a:ext cx="4903487" cy="22467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400000">
            <a:off x="2326988" y="2914599"/>
            <a:ext cx="49492" cy="3669094"/>
          </a:xfrm>
          <a:prstGeom prst="rect">
            <a:avLst/>
          </a:prstGeom>
          <a:solidFill>
            <a:srgbClr val="009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9096" y="2286000"/>
            <a:ext cx="374718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“The real cover-up, the lie, </a:t>
            </a:r>
            <a:r>
              <a:rPr lang="en-US" sz="3200" b="1" dirty="0">
                <a:highlight>
                  <a:srgbClr val="C00002"/>
                </a:highlight>
              </a:rPr>
              <a:t>could only be held together for two weeks</a:t>
            </a:r>
            <a:r>
              <a:rPr lang="en-US" sz="3200" dirty="0"/>
              <a:t>”</a:t>
            </a:r>
            <a:endParaRPr lang="en-US" sz="3200" dirty="0">
              <a:latin typeface="Avenir Book"/>
              <a:cs typeface="Avenir Book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6243" y="5045093"/>
            <a:ext cx="4952999" cy="14583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t"/>
          <a:lstStyle/>
          <a:p>
            <a:r>
              <a:rPr lang="en-US" sz="2000" b="1" dirty="0">
                <a:solidFill>
                  <a:schemeClr val="tx1"/>
                </a:solidFill>
              </a:rPr>
              <a:t>CHUCK COLSON (former Nixon Aide)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i="1" dirty="0">
                <a:solidFill>
                  <a:schemeClr val="tx1"/>
                </a:solidFill>
              </a:rPr>
              <a:t>Breakpoint with Chuck Colson, 2002/03/29</a:t>
            </a:r>
          </a:p>
        </p:txBody>
      </p:sp>
    </p:spTree>
    <p:extLst>
      <p:ext uri="{BB962C8B-B14F-4D97-AF65-F5344CB8AC3E}">
        <p14:creationId xmlns:p14="http://schemas.microsoft.com/office/powerpoint/2010/main" val="106115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0" presetClass="path" presetSubtype="0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animMotion origin="layout" path="M 0.04236 -7.40741E-7 L -8.33333E-7 -7.40741E-7 " pathEditMode="relative" rAng="0" ptsTypes="AA">
                                      <p:cBhvr>
                                        <p:cTn id="19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0.0169 L 1.94444E-6 2.22222E-6 " pathEditMode="relative" rAng="0" ptsTypes="AA">
                                      <p:cBhvr>
                                        <p:cTn id="25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6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5" grpId="1"/>
      <p:bldP spid="7" grpId="0" animBg="1"/>
      <p:bldP spid="8" grpId="0"/>
      <p:bldP spid="8" grpId="1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1524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Key Takeaways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C7293A5-9F6A-4A42-B28F-77E682AEFD25}"/>
              </a:ext>
            </a:extLst>
          </p:cNvPr>
          <p:cNvGrpSpPr/>
          <p:nvPr/>
        </p:nvGrpSpPr>
        <p:grpSpPr>
          <a:xfrm>
            <a:off x="533400" y="2895600"/>
            <a:ext cx="8001000" cy="685800"/>
            <a:chOff x="533400" y="2895600"/>
            <a:chExt cx="8001000" cy="6858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36B79E8-7DCE-0445-821B-D0B03DF78CAA}"/>
                </a:ext>
              </a:extLst>
            </p:cNvPr>
            <p:cNvSpPr/>
            <p:nvPr/>
          </p:nvSpPr>
          <p:spPr>
            <a:xfrm>
              <a:off x="533400" y="2895600"/>
              <a:ext cx="685800" cy="685800"/>
            </a:xfrm>
            <a:prstGeom prst="ellipse">
              <a:avLst/>
            </a:prstGeom>
            <a:solidFill>
              <a:srgbClr val="009E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330B7FE-A318-9845-8F59-02267667CECB}"/>
                </a:ext>
              </a:extLst>
            </p:cNvPr>
            <p:cNvSpPr/>
            <p:nvPr/>
          </p:nvSpPr>
          <p:spPr>
            <a:xfrm>
              <a:off x="1447800" y="2895600"/>
              <a:ext cx="7086600" cy="685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Jesus’ disciples </a:t>
              </a:r>
              <a:r>
                <a:rPr lang="en-US" sz="2400" b="1" dirty="0">
                  <a:solidFill>
                    <a:schemeClr val="tx1"/>
                  </a:solidFill>
                  <a:highlight>
                    <a:srgbClr val="C10102"/>
                  </a:highlight>
                </a:rPr>
                <a:t>were willing to die</a:t>
              </a:r>
              <a:r>
                <a:rPr lang="en-US" sz="2400" dirty="0">
                  <a:solidFill>
                    <a:schemeClr val="tx1"/>
                  </a:solidFill>
                </a:rPr>
                <a:t> as eyewitnesses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5676BE1-B42E-AD44-9DD5-FF20BEB47F36}"/>
              </a:ext>
            </a:extLst>
          </p:cNvPr>
          <p:cNvGrpSpPr/>
          <p:nvPr/>
        </p:nvGrpSpPr>
        <p:grpSpPr>
          <a:xfrm>
            <a:off x="533400" y="1833265"/>
            <a:ext cx="8001000" cy="685800"/>
            <a:chOff x="533400" y="1833265"/>
            <a:chExt cx="8001000" cy="6858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76D5A54-0C8D-804B-88A0-6609A2C1405C}"/>
                </a:ext>
              </a:extLst>
            </p:cNvPr>
            <p:cNvSpPr/>
            <p:nvPr/>
          </p:nvSpPr>
          <p:spPr>
            <a:xfrm>
              <a:off x="533400" y="1833265"/>
              <a:ext cx="685800" cy="685800"/>
            </a:xfrm>
            <a:prstGeom prst="ellipse">
              <a:avLst/>
            </a:prstGeom>
            <a:solidFill>
              <a:srgbClr val="009E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12C2DC5-5653-DC4B-98A2-76A0B8F08883}"/>
                </a:ext>
              </a:extLst>
            </p:cNvPr>
            <p:cNvSpPr/>
            <p:nvPr/>
          </p:nvSpPr>
          <p:spPr>
            <a:xfrm>
              <a:off x="1447800" y="1833265"/>
              <a:ext cx="7086600" cy="685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Jesus’ crucifixion is supported by </a:t>
              </a:r>
              <a:r>
                <a:rPr lang="en-US" sz="2400" b="1" dirty="0">
                  <a:solidFill>
                    <a:schemeClr val="tx1"/>
                  </a:solidFill>
                  <a:highlight>
                    <a:srgbClr val="C00002"/>
                  </a:highlight>
                </a:rPr>
                <a:t>many historical accounts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A87E3B-646D-1E41-9334-E8ECC604DF38}"/>
              </a:ext>
            </a:extLst>
          </p:cNvPr>
          <p:cNvGrpSpPr/>
          <p:nvPr/>
        </p:nvGrpSpPr>
        <p:grpSpPr>
          <a:xfrm>
            <a:off x="533400" y="3957935"/>
            <a:ext cx="8001000" cy="685800"/>
            <a:chOff x="533400" y="2895600"/>
            <a:chExt cx="8001000" cy="6858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02F0422-D845-1E4E-A7C5-B2069A212A2E}"/>
                </a:ext>
              </a:extLst>
            </p:cNvPr>
            <p:cNvSpPr/>
            <p:nvPr/>
          </p:nvSpPr>
          <p:spPr>
            <a:xfrm>
              <a:off x="533400" y="2895600"/>
              <a:ext cx="685800" cy="685800"/>
            </a:xfrm>
            <a:prstGeom prst="ellipse">
              <a:avLst/>
            </a:prstGeom>
            <a:solidFill>
              <a:srgbClr val="009E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3230A02-C278-BF4F-B7D5-75C53BF2251C}"/>
                </a:ext>
              </a:extLst>
            </p:cNvPr>
            <p:cNvSpPr/>
            <p:nvPr/>
          </p:nvSpPr>
          <p:spPr>
            <a:xfrm>
              <a:off x="1447800" y="2895600"/>
              <a:ext cx="7086600" cy="685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The willingness to die is important when </a:t>
              </a:r>
              <a:r>
                <a:rPr lang="en-US" sz="2400" b="1" dirty="0">
                  <a:solidFill>
                    <a:schemeClr val="tx1"/>
                  </a:solidFill>
                  <a:highlight>
                    <a:srgbClr val="C10102"/>
                  </a:highlight>
                </a:rPr>
                <a:t>the sources are eyewitnesses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CE1C68-C736-2F42-AD3D-29FCB9A69CAD}"/>
              </a:ext>
            </a:extLst>
          </p:cNvPr>
          <p:cNvCxnSpPr>
            <a:cxnSpLocks/>
          </p:cNvCxnSpPr>
          <p:nvPr/>
        </p:nvCxnSpPr>
        <p:spPr>
          <a:xfrm>
            <a:off x="304800" y="1066800"/>
            <a:ext cx="8534400" cy="0"/>
          </a:xfrm>
          <a:prstGeom prst="line">
            <a:avLst/>
          </a:prstGeom>
          <a:ln w="76200">
            <a:solidFill>
              <a:srgbClr val="009E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36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Dark Simplicity">
      <a:dk1>
        <a:srgbClr val="FFFFFF"/>
      </a:dk1>
      <a:lt1>
        <a:srgbClr val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2734</TotalTime>
  <Words>889</Words>
  <Application>Microsoft Office PowerPoint</Application>
  <PresentationFormat>On-screen Show (4:3)</PresentationFormat>
  <Paragraphs>386</Paragraphs>
  <Slides>22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Avenir Book</vt:lpstr>
      <vt:lpstr>Calibri</vt:lpstr>
      <vt:lpstr>Gabriola</vt:lpstr>
      <vt:lpstr>Office Theme</vt:lpstr>
      <vt:lpstr>APOLOGETICS</vt:lpstr>
      <vt:lpstr>PowerPoint Presentation</vt:lpstr>
      <vt:lpstr>PowerPoint Presentation</vt:lpstr>
      <vt:lpstr>PowerPoint Presentation</vt:lpstr>
      <vt:lpstr>Read the non-Christian accounts of Jesus’ death by crucifixion</vt:lpstr>
      <vt:lpstr>PowerPoint Presentation</vt:lpstr>
      <vt:lpstr>Read the Gospels accounts of Jesus’ death by crucifixion</vt:lpstr>
      <vt:lpstr>PowerPoint Presentation</vt:lpstr>
      <vt:lpstr>Document the claims of the early witnesses of Jesus’ resurrection</vt:lpstr>
      <vt:lpstr>PowerPoint Presentation</vt:lpstr>
      <vt:lpstr>PowerPoint Presentation</vt:lpstr>
      <vt:lpstr>PowerPoint Presentation</vt:lpstr>
      <vt:lpstr>“Jesus said this to indicate the kind of death by which Peter would glorify God. Then he said to him, ’Follow me!’”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Luke</dc:creator>
  <cp:lastModifiedBy>Luke Murphey</cp:lastModifiedBy>
  <cp:revision>135</cp:revision>
  <dcterms:created xsi:type="dcterms:W3CDTF">2010-07-14T22:15:37Z</dcterms:created>
  <dcterms:modified xsi:type="dcterms:W3CDTF">2026-03-18T17:46:16Z</dcterms:modified>
</cp:coreProperties>
</file>